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tr-TR" sz="1200" b="0" i="0" u="none" strike="noStrike">
                <a:solidFill>
                  <a:srgbClr val="0A2342"/>
                </a:solidFill>
                <a:latin typeface="Arial"/>
              </a:rPr>
              <a:t>Baseline — Model Performansı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C4E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75.900000000000006</c:v>
                </c:pt>
                <c:pt idx="1">
                  <c:v>87</c:v>
                </c:pt>
                <c:pt idx="2">
                  <c:v>85.2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6A-465D-9030-B7DAA114C2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75.5</c:v>
                </c:pt>
                <c:pt idx="1">
                  <c:v>86.8</c:v>
                </c:pt>
                <c:pt idx="2">
                  <c:v>84.8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6A-465D-9030-B7DAA114C2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CV-Mean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80.599999999999994</c:v>
                </c:pt>
                <c:pt idx="1">
                  <c:v>80.599999999999994</c:v>
                </c:pt>
                <c:pt idx="2">
                  <c:v>83.8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6A-465D-9030-B7DAA114C2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tr-TR" sz="1200" b="0" i="0" u="none" strike="noStrike">
                <a:solidFill>
                  <a:srgbClr val="0A2342"/>
                </a:solidFill>
                <a:latin typeface="Arial"/>
              </a:rPr>
              <a:t>Advanced (PCA) — Model Performansı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C4E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</c:v>
                </c:pt>
                <c:pt idx="1">
                  <c:v>85.2</c:v>
                </c:pt>
                <c:pt idx="2">
                  <c:v>88.9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C0-4EF6-89A8-231D616447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88.6</c:v>
                </c:pt>
                <c:pt idx="1">
                  <c:v>84.8</c:v>
                </c:pt>
                <c:pt idx="2">
                  <c:v>88.8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C0-4EF6-89A8-231D616447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CV-Mean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81.5</c:v>
                </c:pt>
                <c:pt idx="1">
                  <c:v>76.400000000000006</c:v>
                </c:pt>
                <c:pt idx="2">
                  <c:v>82.4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C0-4EF6-89A8-231D616447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34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4538-755A-6906-DF4F-6A4D50227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0A5E3-F39B-82BF-D131-48BC44A90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58E80-B779-E69D-D3E3-152EC9893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C4AFD-B1B6-4C25-1304-8C111DFC5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62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84BE9-C43A-48AD-5B76-E46AA087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BE7A2-ADDB-21BD-A2A6-BFAD2CB52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56E53-8241-511A-5F59-54C02C8B3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ACB77-20C1-362E-66F8-A16DDFF01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ishidamarla/heart-disease-predict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Kolektif Öğrenmeye Giriş — Dönem Ödevi Sunumu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Hastalığı Tahmini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 Kolektif Öğrenme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AdaBoost · Stacking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474720"/>
            <a:ext cx="3840480" cy="12344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685800" y="354787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Şeyda Aytemür
</a:t>
            </a:r>
            <a:r>
              <a:rPr lang="en-US" sz="110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Tekirdağ Namık Kemal Üniversitesi
Çorlu Mühendislik Fakültesi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İÇİNDEKİLER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21792" y="1069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10515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Problemin Tanımı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904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hastalığı ve makine öğrenmesi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56632" y="1069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50408" y="10515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&amp; Ön İşleme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50408" y="14904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(Kaggle)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21792" y="23957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5568" y="23774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Yöntemler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28163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AdaBoost · Stacking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2860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892040" y="24231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56632" y="23957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0408" y="23774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Deneysel Tasarım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50408" y="28163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Advanced (PCA) senaryoları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21792" y="3721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15568" y="3703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&amp; Karşılaştırma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41422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Metrikler, grafikler, karmaşıklık matrisi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611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4892040" y="374904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056632" y="3721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50408" y="3703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&amp; Sonuç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0408" y="41422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ve gelecek çalışmalar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Problemin Tanımı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303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161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9784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Kardiyovasküler Hastalıklar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34416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genelinde önde gelen ölüm nedenlerinden biri. WHO'ya göre her yıl ~17,9 milyon insan hayatını kaybediyor.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5303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54864" cy="8686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54203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3042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Teşhisin Önemi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267004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faktörlerinin erken tespiti, müdahale imkânını artırır ve tedavi maliyetini düşürür.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520440"/>
            <a:ext cx="5303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679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6301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Öğrenmesinin Rolü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43000" y="399592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verilerden örüntü öğrenen modeller, hekime karar destek sağlayarak teşhis doğruluğunu artırır.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3504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Çalışmanın Hedefi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035040" y="1261872"/>
            <a:ext cx="1325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5"/>
          <p:cNvSpPr/>
          <p:nvPr/>
        </p:nvSpPr>
        <p:spPr>
          <a:xfrm>
            <a:off x="6035040" y="1399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6035040" y="2011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Kolektif Öğrenme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Yöntemi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516368" y="1261872"/>
            <a:ext cx="1325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18"/>
          <p:cNvSpPr/>
          <p:nvPr/>
        </p:nvSpPr>
        <p:spPr>
          <a:xfrm>
            <a:off x="7516368" y="1399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7516368" y="2011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Senaryosu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35040" y="2816352"/>
            <a:ext cx="1325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1"/>
          <p:cNvSpPr/>
          <p:nvPr/>
        </p:nvSpPr>
        <p:spPr>
          <a:xfrm>
            <a:off x="6035040" y="295351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3400" dirty="0"/>
          </a:p>
        </p:txBody>
      </p:sp>
      <p:sp>
        <p:nvSpPr>
          <p:cNvPr id="27" name="Text 22"/>
          <p:cNvSpPr/>
          <p:nvPr/>
        </p:nvSpPr>
        <p:spPr>
          <a:xfrm>
            <a:off x="6035040" y="3566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516368" y="2816352"/>
            <a:ext cx="1325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4"/>
          <p:cNvSpPr/>
          <p:nvPr/>
        </p:nvSpPr>
        <p:spPr>
          <a:xfrm>
            <a:off x="7516368" y="295351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400" dirty="0"/>
          </a:p>
        </p:txBody>
      </p:sp>
      <p:sp>
        <p:nvSpPr>
          <p:cNvPr id="30" name="Text 25"/>
          <p:cNvSpPr/>
          <p:nvPr/>
        </p:nvSpPr>
        <p:spPr>
          <a:xfrm>
            <a:off x="7516368" y="3566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Veri Seti &amp; Ön İşleme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840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097280" cy="27432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Sex · Chest Pain Type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1305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(BP)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4780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r>
              <a:rPr lang="tr-TR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8254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Heart Rate (Max HR)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1729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Thallium Scan · Vessels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86791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Angina · Slope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42153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Hedef: Heart Disease (0/1)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İşleme Adımları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261872"/>
            <a:ext cx="384048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7200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 Kodlama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15636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ile hedef değişken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(Presence/Absence → 1/0)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64024" y="1645920"/>
            <a:ext cx="0" cy="585216"/>
          </a:xfrm>
          <a:prstGeom prst="line">
            <a:avLst/>
          </a:prstGeom>
          <a:noFill/>
          <a:ln w="19050">
            <a:solidFill>
              <a:srgbClr val="C5D8EA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572000" y="2231136"/>
            <a:ext cx="384048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2203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</a:t>
            </a:r>
            <a:r>
              <a:rPr lang="en-US" sz="12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Bölme</a:t>
            </a:r>
            <a:r>
              <a:rPr lang="tr-TR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Doğrulama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5328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050" dirty="0" err="1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</a:t>
            </a:r>
            <a:r>
              <a:rPr lang="tr-TR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%80 Eğitim / %20 Test </a:t>
            </a:r>
          </a:p>
          <a:p>
            <a:pPr marL="0" indent="0">
              <a:buNone/>
            </a:pPr>
            <a:r>
              <a:rPr lang="tr-TR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r>
              <a:rPr lang="tr-TR" sz="1050" dirty="0" err="1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tr-TR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Eğitim setinde 5-Katlı Çapraz Doğrulama (</a:t>
            </a:r>
            <a:r>
              <a:rPr lang="tr-TR" sz="1050" dirty="0" err="1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r>
              <a:rPr lang="tr-TR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kontrolü için CV=5)</a:t>
            </a:r>
          </a:p>
        </p:txBody>
      </p:sp>
      <p:sp>
        <p:nvSpPr>
          <p:cNvPr id="24" name="Shape 22"/>
          <p:cNvSpPr/>
          <p:nvPr/>
        </p:nvSpPr>
        <p:spPr>
          <a:xfrm>
            <a:off x="4764024" y="2615184"/>
            <a:ext cx="0" cy="585216"/>
          </a:xfrm>
          <a:prstGeom prst="line">
            <a:avLst/>
          </a:prstGeom>
          <a:noFill/>
          <a:ln w="19050">
            <a:solidFill>
              <a:srgbClr val="C5D8EA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0" y="3200400"/>
            <a:ext cx="384048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5720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172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Standartlaştırma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502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— sıfır ortalama,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varyans (sadece train üzerinden fit)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64024" y="3584448"/>
            <a:ext cx="0" cy="585216"/>
          </a:xfrm>
          <a:prstGeom prst="line">
            <a:avLst/>
          </a:prstGeom>
          <a:noFill/>
          <a:ln w="19050">
            <a:solidFill>
              <a:srgbClr val="C5D8EA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572000" y="4169664"/>
            <a:ext cx="384048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57200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41422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(Advanced)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44714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n_components=0.95 → 13 özellik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 bileşene indirgeme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Kolektif Öğrenme Yöntemleri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868680"/>
            <a:ext cx="2743200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960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32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" y="11887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7472" y="182880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12064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örneklemesi + rastgele özellik seçimi ile birbirinden bağımsız karar ağaçları oluşturur.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2064" y="2697480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694944" y="2670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bağımsız karar ağacı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" y="3172968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94944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 oylaması ile tahmin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" y="3648456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694944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varyansı azaltır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064" y="4123944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694944" y="40965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desteği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868680"/>
            <a:ext cx="2743200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96012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50208" y="932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950208" y="11887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200400" y="182880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18"/>
          <p:cNvSpPr/>
          <p:nvPr/>
        </p:nvSpPr>
        <p:spPr>
          <a:xfrm>
            <a:off x="3364992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Ardışık zayıf öğreniciler; yanlış sınıflanan örneklere giderek artan ağırlık atar.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64992" y="2697480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3547872" y="2670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(sequential) öğrenme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364992" y="3172968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2"/>
          <p:cNvSpPr/>
          <p:nvPr/>
        </p:nvSpPr>
        <p:spPr>
          <a:xfrm>
            <a:off x="3547872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Yanlışları hedefler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364992" y="3648456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4"/>
          <p:cNvSpPr/>
          <p:nvPr/>
        </p:nvSpPr>
        <p:spPr>
          <a:xfrm>
            <a:off x="3547872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önyargıyı azaltır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364992" y="4123944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3547872" y="40965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tabanları (stumps)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053328" y="868680"/>
            <a:ext cx="2743200" cy="9601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60120"/>
            <a:ext cx="502920" cy="5029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03136" y="932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803136" y="11887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6053328" y="182880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Text 31"/>
          <p:cNvSpPr/>
          <p:nvPr/>
        </p:nvSpPr>
        <p:spPr>
          <a:xfrm>
            <a:off x="621792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SVC + AdaBoost temel öğrenicilerin tahminleri, Lojistik Regresyon meta-öğreniciye girdi olur.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217920" y="2697480"/>
            <a:ext cx="109728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3"/>
          <p:cNvSpPr/>
          <p:nvPr/>
        </p:nvSpPr>
        <p:spPr>
          <a:xfrm>
            <a:off x="6400800" y="2670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Heterojen temel öğreniciler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217920" y="3172968"/>
            <a:ext cx="109728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5"/>
          <p:cNvSpPr/>
          <p:nvPr/>
        </p:nvSpPr>
        <p:spPr>
          <a:xfrm>
            <a:off x="6400800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Meta-öğrenici: LogReg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217920" y="3648456"/>
            <a:ext cx="109728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7"/>
          <p:cNvSpPr/>
          <p:nvPr/>
        </p:nvSpPr>
        <p:spPr>
          <a:xfrm>
            <a:off x="6400800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optimizasyonu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217920" y="4123944"/>
            <a:ext cx="109728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39"/>
          <p:cNvSpPr/>
          <p:nvPr/>
        </p:nvSpPr>
        <p:spPr>
          <a:xfrm>
            <a:off x="6400800" y="40965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kararlı performans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Deneysel Tasarım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3977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3977640" cy="45720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1 — 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veri, varsayılan hiperparametreler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Hold-out: %80 eğitim / %20 test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5-Katlı Çapraz Doğrulama (CV=5)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paralel eğitildi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Metrikleri: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649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210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77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330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CV-Mean (5-fold)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841248"/>
            <a:ext cx="3977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709160" y="841248"/>
            <a:ext cx="397764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828032" y="859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2 — ADVANCED (PCA)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14447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boyut indirgeme (n_comp=0.95)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18288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özellik → 12 PCA bileşeni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64608" y="22128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+ 5-Katlı CV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64608" y="259689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ile Stacking optimizasyonu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64608" y="303580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ile Amaçlanan: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33649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Gürültüyü azaltmak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7307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doğrusallığı gidermek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40965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genellenebilirliğini artırmak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PCA Varyans Analizi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029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img_pca_vari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914400"/>
            <a:ext cx="484632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822960"/>
            <a:ext cx="3154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5669280" y="960120"/>
            <a:ext cx="54864" cy="8686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5833872" y="9144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Bileşen Yeterli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33872" y="1280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özelliğin tamamına yakını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%95 varyansı korumak için gerekti.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0" y="2130552"/>
            <a:ext cx="3154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5669280" y="2267712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833872" y="22219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Bilgi Yoğunluğu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33872" y="25877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birbirinden büyük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ölçüde bağımsız (düşük korelasyon).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0" y="3438144"/>
            <a:ext cx="3154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5669280" y="3575304"/>
            <a:ext cx="54864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5833872" y="35295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Temizlendi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33872" y="389534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bileşen çıkarılarak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filtrelemesi sağlandı.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Senaryo 1: Baseline Sonuçları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664924355"/>
              </p:ext>
            </p:extLst>
          </p:nvPr>
        </p:nvGraphicFramePr>
        <p:xfrm>
          <a:off x="457200" y="804672"/>
          <a:ext cx="3889717" cy="3950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431323" y="7498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Tablo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365399"/>
              </p:ext>
            </p:extLst>
          </p:nvPr>
        </p:nvGraphicFramePr>
        <p:xfrm>
          <a:off x="4507992" y="1092708"/>
          <a:ext cx="4315968" cy="1539240"/>
        </p:xfrm>
        <a:graphic>
          <a:graphicData uri="http://schemas.openxmlformats.org/drawingml/2006/table">
            <a:tbl>
              <a:tblPr/>
              <a:tblGrid>
                <a:gridCol w="1226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968">
                  <a:extLst>
                    <a:ext uri="{9D8B030D-6E8A-4147-A177-3AD203B41FA5}">
                      <a16:colId xmlns:a16="http://schemas.microsoft.com/office/drawing/2014/main" val="1822404921"/>
                    </a:ext>
                  </a:extLst>
                </a:gridCol>
                <a:gridCol w="592339">
                  <a:extLst>
                    <a:ext uri="{9D8B030D-6E8A-4147-A177-3AD203B41FA5}">
                      <a16:colId xmlns:a16="http://schemas.microsoft.com/office/drawing/2014/main" val="586309064"/>
                    </a:ext>
                  </a:extLst>
                </a:gridCol>
                <a:gridCol w="643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r>
                        <a:rPr lang="tr-TR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%86.8</a:t>
                      </a:r>
                      <a:endParaRPr lang="en-US" sz="11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352757" y="3189497"/>
            <a:ext cx="3270738" cy="1722589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3"/>
          <p:cNvSpPr/>
          <p:nvPr/>
        </p:nvSpPr>
        <p:spPr>
          <a:xfrm>
            <a:off x="6443003" y="28651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Temel Bulgu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352757" y="3305907"/>
            <a:ext cx="3124786" cy="1448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ham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üzerinde</a:t>
            </a:r>
            <a:r>
              <a:rPr lang="tr-TR" sz="1100" dirty="0"/>
              <a:t> 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%87.0 ile en iyi sonucu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ise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modeler</a:t>
            </a:r>
            <a:r>
              <a:rPr lang="tr-TR" sz="1100" dirty="0"/>
              <a:t>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arasında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performansı</a:t>
            </a:r>
            <a:r>
              <a:rPr lang="tr-TR" sz="1100" dirty="0"/>
              <a:t>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gösterdi</a:t>
            </a:r>
            <a:r>
              <a:rPr lang="tr-TR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(%75.9).</a:t>
            </a:r>
            <a:endParaRPr lang="tr-TR" sz="11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 err="1"/>
              <a:t>AdaBoost</a:t>
            </a:r>
            <a:r>
              <a:rPr lang="tr-TR" sz="1100" dirty="0"/>
              <a:t> test setinde (%87.0) en yüksek başarıyı verse de; </a:t>
            </a:r>
            <a:r>
              <a:rPr lang="tr-TR" sz="1100" dirty="0" err="1"/>
              <a:t>Accuracy</a:t>
            </a:r>
            <a:r>
              <a:rPr lang="tr-TR" sz="1100" dirty="0"/>
              <a:t> ve CV-</a:t>
            </a:r>
            <a:r>
              <a:rPr lang="tr-TR" sz="1100" dirty="0" err="1"/>
              <a:t>Mean</a:t>
            </a:r>
            <a:r>
              <a:rPr lang="tr-TR" sz="1100" dirty="0"/>
              <a:t> skorları birbirine en yakın olan </a:t>
            </a:r>
            <a:r>
              <a:rPr lang="tr-TR" sz="1100" dirty="0" err="1"/>
              <a:t>Stacking</a:t>
            </a:r>
            <a:r>
              <a:rPr lang="tr-TR" sz="1100" dirty="0"/>
              <a:t> modeli (%85.2 </a:t>
            </a:r>
            <a:r>
              <a:rPr lang="tr-TR" sz="1100" dirty="0" err="1"/>
              <a:t>vs</a:t>
            </a:r>
            <a:r>
              <a:rPr lang="tr-TR" sz="1100" dirty="0"/>
              <a:t> %83.8), aşırı öğrenmeden (</a:t>
            </a:r>
            <a:r>
              <a:rPr lang="tr-TR" sz="1100" dirty="0" err="1"/>
              <a:t>overfitting</a:t>
            </a:r>
            <a:r>
              <a:rPr lang="tr-TR" sz="1100" dirty="0"/>
              <a:t>) en uzak ve en istikrarlı model olarak öne çıkmaktadır.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Baseline — Karmaşıklık Matrisleri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img_confusion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</a:t>
            </a:r>
            <a:r>
              <a:rPr lang="tr-TR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1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anlış</a:t>
            </a: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1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egatif</a:t>
            </a: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tr-TR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tehlikeli hatayı en çok yapan model.</a:t>
            </a: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36034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AdaBoost: </a:t>
            </a:r>
            <a:r>
              <a:rPr lang="tr-TR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FN, 2 FP — </a:t>
            </a:r>
            <a:r>
              <a:rPr lang="tr-TR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hastaları kaçırma (FN) oranı en düşük model.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0" y="44439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Stacking: </a:t>
            </a:r>
            <a:r>
              <a:rPr lang="tr-TR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FN, 2 FP — </a:t>
            </a:r>
            <a:r>
              <a:rPr lang="tr-TR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Kararlı model ancak FN oranı </a:t>
            </a:r>
            <a:r>
              <a:rPr lang="tr-TR" sz="1100" b="1" dirty="0" err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Adaboost’un</a:t>
            </a:r>
            <a:r>
              <a:rPr lang="tr-TR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gerisinde kaldı.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Senaryo 2: Advanced (PCA) Sonuçları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54220059"/>
              </p:ext>
            </p:extLst>
          </p:nvPr>
        </p:nvGraphicFramePr>
        <p:xfrm>
          <a:off x="457200" y="822960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663440" y="763231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Tablo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332464"/>
              </p:ext>
            </p:extLst>
          </p:nvPr>
        </p:nvGraphicFramePr>
        <p:xfrm>
          <a:off x="4751360" y="1141711"/>
          <a:ext cx="4206241" cy="1539240"/>
        </p:xfrm>
        <a:graphic>
          <a:graphicData uri="http://schemas.openxmlformats.org/drawingml/2006/table">
            <a:tbl>
              <a:tblPr/>
              <a:tblGrid>
                <a:gridCol w="1305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24">
                  <a:extLst>
                    <a:ext uri="{9D8B030D-6E8A-4147-A177-3AD203B41FA5}">
                      <a16:colId xmlns:a16="http://schemas.microsoft.com/office/drawing/2014/main" val="3527945582"/>
                    </a:ext>
                  </a:extLst>
                </a:gridCol>
                <a:gridCol w="569496">
                  <a:extLst>
                    <a:ext uri="{9D8B030D-6E8A-4147-A177-3AD203B41FA5}">
                      <a16:colId xmlns:a16="http://schemas.microsoft.com/office/drawing/2014/main" val="2017264946"/>
                    </a:ext>
                  </a:extLst>
                </a:gridCol>
                <a:gridCol w="590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r>
                        <a:rPr lang="tr-TR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176908" y="3102806"/>
            <a:ext cx="3042142" cy="1819069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7" name="Text 3"/>
          <p:cNvSpPr/>
          <p:nvPr/>
        </p:nvSpPr>
        <p:spPr>
          <a:xfrm>
            <a:off x="6137032" y="275533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Temel Bulgu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176908" y="3007204"/>
            <a:ext cx="3042142" cy="2010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sonrası RF ve Stacking</a:t>
            </a:r>
            <a:endParaRPr lang="en-US" sz="1100" dirty="0"/>
          </a:p>
          <a:p>
            <a:r>
              <a:rPr lang="tr-TR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%88.9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birinci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oldu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ise PCA'dan olumsuz</a:t>
            </a:r>
            <a:endParaRPr lang="en-US" sz="1100" dirty="0"/>
          </a:p>
          <a:p>
            <a:r>
              <a:rPr lang="tr-TR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etkilenerek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%85.2'ye </a:t>
            </a:r>
            <a:r>
              <a:rPr lang="en-US" sz="11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geriledi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tr-TR" sz="11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/>
              <a:t>RF ve </a:t>
            </a:r>
            <a:r>
              <a:rPr lang="tr-TR" sz="1100" dirty="0" err="1"/>
              <a:t>Stacking</a:t>
            </a:r>
            <a:r>
              <a:rPr lang="tr-TR" sz="1100" dirty="0"/>
              <a:t> Test doğruluğunda %88.9berabere kalsa da; </a:t>
            </a:r>
            <a:r>
              <a:rPr lang="tr-TR" sz="1100" dirty="0" err="1"/>
              <a:t>Stacking'in</a:t>
            </a:r>
            <a:r>
              <a:rPr lang="tr-TR" sz="1100" dirty="0"/>
              <a:t> Çapraz Doğrulama (CV_M) skoru (%82.4) daha yüksek olduğu için, aşırı öğrenmeye karşı daha dirençli ve güvenilir olan asıl kazananın </a:t>
            </a:r>
            <a:r>
              <a:rPr lang="tr-TR" sz="1100" dirty="0" err="1"/>
              <a:t>Stacking</a:t>
            </a:r>
            <a:r>
              <a:rPr lang="tr-TR" sz="1100" dirty="0"/>
              <a:t> olduğunu söyleyebiliriz.</a:t>
            </a:r>
            <a:endParaRPr lang="tr-TR" sz="11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Senaryo Karşılaştırması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img_pca_succ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49884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548640" y="4517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75.9% → 88.9%  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377440" y="451713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+13.0 pp ↑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10128" y="449884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3401568" y="4517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 87.0% → 85.2%  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30368" y="451713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 pp ↓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63056" y="449884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254496" y="4517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 85.2% → 88.9%  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83296" y="451713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 pp ↑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Özellik Önem Dereceleri (Baseline)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20624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pic>
        <p:nvPicPr>
          <p:cNvPr id="5" name="Image 0" descr="/home/claude/img_feat_rf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234440"/>
            <a:ext cx="411480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804672"/>
            <a:ext cx="406908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89204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300" dirty="0"/>
          </a:p>
        </p:txBody>
      </p:sp>
      <p:pic>
        <p:nvPicPr>
          <p:cNvPr id="8" name="Image 1" descr="/home/claude/img_feat_ada_base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234440"/>
            <a:ext cx="39776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Tartışma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4864" cy="164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058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9326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PCA'dan En Çok Yararlanan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24128" y="1244639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 verideki gürültü ve çoklu doğrusallık RF'i zorladı (%75.9). PCA bu sorunları gidererek doğruluğu %88.9'a taşıdı. En büyük nispi kazanım (+13 pp).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28032" y="82296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4828032" y="960120"/>
            <a:ext cx="54864" cy="1645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05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9326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PCA'dan Olumsuz Etkilenen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0" y="1177817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mekanizması gürültüyü kendi başına yönetebiliyor. PCA bazı ince örüntüleri dönüştürerek performansı %87.0'dan %85.2'ye düşürdü.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2907792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365760" y="3044952"/>
            <a:ext cx="54864" cy="16459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9067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— En Kararlı Model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24128" y="333334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 iki senaryoda da tutarlı yüksek performans. Meta-öğrenici (</a:t>
            </a:r>
            <a:r>
              <a:rPr lang="tr-TR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LogReg</a:t>
            </a:r>
            <a:r>
              <a:rPr lang="tr-TR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alt modellerin (RF, SVC, Ada) zayıf yönlerini dengeleyerek en düşük varyanslı tahmini üretti. </a:t>
            </a:r>
            <a:r>
              <a:rPr lang="tr-TR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GridSearchCV</a:t>
            </a:r>
            <a:r>
              <a:rPr lang="tr-TR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optimizasyonu ek kazanım sağladı.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28032" y="2907792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4"/>
          <p:cNvSpPr/>
          <p:nvPr/>
        </p:nvSpPr>
        <p:spPr>
          <a:xfrm>
            <a:off x="4828032" y="3044952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9067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Anlamlılık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76672" y="3353035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50" dirty="0"/>
              <a:t>ST depresyonu, Göğüs Ağrısı Tipi ve Kolesterol gibi tıp literatürüyle birebir örtüşen özelliklerin modeller tarafından en kritik faktörler olarak belirlenmesi, algoritmaların ezber yapmadığını ve gerçek biyolojik ilişkileri öğrendiğini gösteriyor.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SONUÇ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321040" cy="685800"/>
          </a:xfrm>
          <a:prstGeom prst="rect">
            <a:avLst/>
          </a:prstGeom>
          <a:solidFill>
            <a:srgbClr val="0E2D4F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0789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05840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sonrası Random Forest ve Stacking %88.9 ile en yüksek doğruluğa ulaştı.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64792"/>
            <a:ext cx="8321040" cy="685800"/>
          </a:xfrm>
          <a:prstGeom prst="rect">
            <a:avLst/>
          </a:prstGeom>
          <a:solidFill>
            <a:srgbClr val="0A2342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8836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810512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ham veride birinci (%87.0), PCA sonrası gerilemesi en belirgin model oldu.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569464"/>
            <a:ext cx="8321040" cy="685800"/>
          </a:xfrm>
          <a:prstGeom prst="rect">
            <a:avLst/>
          </a:prstGeom>
          <a:solidFill>
            <a:srgbClr val="0E2D4F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68833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615184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Stacking, her iki senaryoda tutarlı performans göstererek en kararlı yöntem oldu.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374136"/>
            <a:ext cx="8321040" cy="685800"/>
          </a:xfrm>
          <a:prstGeom prst="rect">
            <a:avLst/>
          </a:prstGeom>
          <a:solidFill>
            <a:srgbClr val="0A2342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49300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419856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olarak </a:t>
            </a: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CV-Mean değerleri Hold-out'a yakın — Modeller overfitting sergilemedi.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178808"/>
            <a:ext cx="8321040" cy="685800"/>
          </a:xfrm>
          <a:prstGeom prst="rect">
            <a:avLst/>
          </a:prstGeom>
          <a:solidFill>
            <a:srgbClr val="0E2D4F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29768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224528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</a:t>
            </a:r>
            <a:r>
              <a:rPr lang="en-US" sz="1300" dirty="0" err="1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depresyonu</a:t>
            </a: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modelde de kritik bir bulgu olurken; </a:t>
            </a:r>
            <a:r>
              <a:rPr lang="tr-TR" sz="1300" dirty="0" err="1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r>
              <a:rPr lang="tr-TR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dirty="0" err="1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r>
              <a:rPr lang="tr-TR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göğüs ağrısına, </a:t>
            </a:r>
            <a:r>
              <a:rPr lang="tr-TR" sz="1300" dirty="0" err="1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r>
              <a:rPr lang="tr-TR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ise </a:t>
            </a:r>
            <a:r>
              <a:rPr lang="tr-TR" sz="1300" dirty="0" err="1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kolestrol</a:t>
            </a:r>
            <a:r>
              <a:rPr lang="tr-TR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seviyesine odaklanarak farklı klinik örüntüleri yakaladığı görülmüştür.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57200" y="48646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Şeyda Aytemür · Tekirdağ Namık Kemal Üniversitesi · Çorlu Mühendislik Fakültesi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2015C-59C0-3CB7-F25C-823A3C66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B07F76-1AD5-ACD1-878A-5B7C27157902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9CACCBC6-5B98-8808-F602-C37740C56627}"/>
              </a:ext>
            </a:extLst>
          </p:cNvPr>
          <p:cNvSpPr/>
          <p:nvPr/>
        </p:nvSpPr>
        <p:spPr>
          <a:xfrm>
            <a:off x="457200" y="48646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Şeyda Aytemür · Tekirdağ Namık Kemal Üniversitesi · Çorlu Mühendislik Fakültesi</a:t>
            </a:r>
            <a:endParaRPr lang="en-US" sz="10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D70D2BA9-4089-41D0-4911-91D6A214BD5D}"/>
              </a:ext>
            </a:extLst>
          </p:cNvPr>
          <p:cNvSpPr/>
          <p:nvPr/>
        </p:nvSpPr>
        <p:spPr>
          <a:xfrm>
            <a:off x="601394" y="295422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24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KAYNAKÇA</a:t>
            </a:r>
            <a:endParaRPr lang="tr-TR" sz="2400" dirty="0">
              <a:solidFill>
                <a:srgbClr val="D0E8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26C156F-8B5C-AC78-8DD6-9043B420498F}"/>
              </a:ext>
            </a:extLst>
          </p:cNvPr>
          <p:cNvSpPr/>
          <p:nvPr/>
        </p:nvSpPr>
        <p:spPr>
          <a:xfrm>
            <a:off x="654148" y="2440745"/>
            <a:ext cx="8201464" cy="497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200" b="1" dirty="0">
                <a:solidFill>
                  <a:schemeClr val="bg2"/>
                </a:solidFill>
              </a:rPr>
              <a:t>Veri Seti:</a:t>
            </a:r>
            <a:endParaRPr lang="tr-TR" sz="1200" dirty="0">
              <a:solidFill>
                <a:schemeClr val="bg2"/>
              </a:solidFill>
            </a:endParaRPr>
          </a:p>
          <a:p>
            <a:endParaRPr lang="tr-TR" sz="14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bg2"/>
                </a:solidFill>
              </a:rPr>
              <a:t>Damarla, R. </a:t>
            </a:r>
            <a:r>
              <a:rPr lang="tr-TR" sz="1200" i="1" dirty="0" err="1">
                <a:solidFill>
                  <a:schemeClr val="bg2"/>
                </a:solidFill>
              </a:rPr>
              <a:t>Heart</a:t>
            </a:r>
            <a:r>
              <a:rPr lang="tr-TR" sz="1200" i="1" dirty="0">
                <a:solidFill>
                  <a:schemeClr val="bg2"/>
                </a:solidFill>
              </a:rPr>
              <a:t> </a:t>
            </a:r>
            <a:r>
              <a:rPr lang="tr-TR" sz="1200" i="1" dirty="0" err="1">
                <a:solidFill>
                  <a:schemeClr val="bg2"/>
                </a:solidFill>
              </a:rPr>
              <a:t>Disease</a:t>
            </a:r>
            <a:r>
              <a:rPr lang="tr-TR" sz="1200" i="1" dirty="0">
                <a:solidFill>
                  <a:schemeClr val="bg2"/>
                </a:solidFill>
              </a:rPr>
              <a:t> </a:t>
            </a:r>
            <a:r>
              <a:rPr lang="tr-TR" sz="1200" i="1" dirty="0" err="1">
                <a:solidFill>
                  <a:schemeClr val="bg2"/>
                </a:solidFill>
              </a:rPr>
              <a:t>Prediction</a:t>
            </a:r>
            <a:r>
              <a:rPr lang="tr-TR" sz="1200" i="1" dirty="0">
                <a:solidFill>
                  <a:schemeClr val="bg2"/>
                </a:solidFill>
              </a:rPr>
              <a:t> </a:t>
            </a:r>
            <a:r>
              <a:rPr lang="tr-TR" sz="1200" i="1" dirty="0" err="1">
                <a:solidFill>
                  <a:schemeClr val="bg2"/>
                </a:solidFill>
              </a:rPr>
              <a:t>Dataset</a:t>
            </a:r>
            <a:r>
              <a:rPr lang="tr-TR" sz="1200" dirty="0">
                <a:solidFill>
                  <a:schemeClr val="bg2"/>
                </a:solidFill>
              </a:rPr>
              <a:t>. </a:t>
            </a:r>
            <a:r>
              <a:rPr lang="tr-TR" sz="1200" dirty="0" err="1">
                <a:solidFill>
                  <a:schemeClr val="bg2"/>
                </a:solidFill>
              </a:rPr>
              <a:t>Kaggle</a:t>
            </a:r>
            <a:r>
              <a:rPr lang="tr-TR" sz="1200" dirty="0">
                <a:solidFill>
                  <a:schemeClr val="bg2"/>
                </a:solidFill>
              </a:rPr>
              <a:t>. Erişim adresi: </a:t>
            </a:r>
            <a:r>
              <a:rPr lang="tr-TR" sz="12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https://www.kaggle.com/datasets/rishidamarla/heart-disease-prediction</a:t>
            </a:r>
            <a:endParaRPr lang="tr-TR" sz="1200" dirty="0">
              <a:solidFill>
                <a:schemeClr val="bg2"/>
              </a:solidFill>
            </a:endParaRPr>
          </a:p>
          <a:p>
            <a:endParaRPr lang="tr-TR" sz="1200" dirty="0">
              <a:solidFill>
                <a:schemeClr val="bg2"/>
              </a:solidFill>
            </a:endParaRPr>
          </a:p>
          <a:p>
            <a:r>
              <a:rPr lang="tr-TR" sz="1200" b="1" dirty="0">
                <a:solidFill>
                  <a:schemeClr val="bg2"/>
                </a:solidFill>
              </a:rPr>
              <a:t>Makine Öğrenmesi &amp; Algoritmalar (Teorik Altyapı):</a:t>
            </a:r>
          </a:p>
          <a:p>
            <a:endParaRPr lang="tr-TR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bg2"/>
                </a:solidFill>
              </a:rPr>
              <a:t>Breiman</a:t>
            </a:r>
            <a:r>
              <a:rPr lang="tr-TR" sz="1200" dirty="0">
                <a:solidFill>
                  <a:schemeClr val="bg2"/>
                </a:solidFill>
              </a:rPr>
              <a:t>, L. (2001). </a:t>
            </a:r>
            <a:r>
              <a:rPr lang="tr-TR" sz="1200" dirty="0" err="1">
                <a:solidFill>
                  <a:schemeClr val="bg2"/>
                </a:solidFill>
              </a:rPr>
              <a:t>Random</a:t>
            </a:r>
            <a:r>
              <a:rPr lang="tr-TR" sz="1200" dirty="0">
                <a:solidFill>
                  <a:schemeClr val="bg2"/>
                </a:solidFill>
              </a:rPr>
              <a:t> </a:t>
            </a:r>
            <a:r>
              <a:rPr lang="tr-TR" sz="1200" dirty="0" err="1">
                <a:solidFill>
                  <a:schemeClr val="bg2"/>
                </a:solidFill>
              </a:rPr>
              <a:t>Forests</a:t>
            </a:r>
            <a:r>
              <a:rPr lang="tr-TR" sz="1200" dirty="0">
                <a:solidFill>
                  <a:schemeClr val="bg2"/>
                </a:solidFill>
              </a:rPr>
              <a:t>. </a:t>
            </a:r>
            <a:r>
              <a:rPr lang="tr-TR" sz="1200" i="1" dirty="0">
                <a:solidFill>
                  <a:schemeClr val="bg2"/>
                </a:solidFill>
              </a:rPr>
              <a:t>Machine Learning</a:t>
            </a:r>
            <a:r>
              <a:rPr lang="tr-TR" sz="1200" dirty="0">
                <a:solidFill>
                  <a:schemeClr val="bg2"/>
                </a:solidFill>
              </a:rPr>
              <a:t>, 45(1), 5-32.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bg2"/>
                </a:solidFill>
              </a:rPr>
              <a:t>Freund</a:t>
            </a:r>
            <a:r>
              <a:rPr lang="tr-TR" sz="1200" dirty="0">
                <a:solidFill>
                  <a:schemeClr val="bg2"/>
                </a:solidFill>
              </a:rPr>
              <a:t>, Y., &amp; </a:t>
            </a:r>
            <a:r>
              <a:rPr lang="tr-TR" sz="1200" dirty="0" err="1">
                <a:solidFill>
                  <a:schemeClr val="bg2"/>
                </a:solidFill>
              </a:rPr>
              <a:t>Schapire</a:t>
            </a:r>
            <a:r>
              <a:rPr lang="tr-TR" sz="1200" dirty="0">
                <a:solidFill>
                  <a:schemeClr val="bg2"/>
                </a:solidFill>
              </a:rPr>
              <a:t>, R. E. (1997). A </a:t>
            </a:r>
            <a:r>
              <a:rPr lang="tr-TR" sz="1200" dirty="0" err="1">
                <a:solidFill>
                  <a:schemeClr val="bg2"/>
                </a:solidFill>
              </a:rPr>
              <a:t>decision-theoretic</a:t>
            </a:r>
            <a:r>
              <a:rPr lang="tr-TR" sz="1200" dirty="0">
                <a:solidFill>
                  <a:schemeClr val="bg2"/>
                </a:solidFill>
              </a:rPr>
              <a:t> </a:t>
            </a:r>
            <a:r>
              <a:rPr lang="tr-TR" sz="1200" dirty="0" err="1">
                <a:solidFill>
                  <a:schemeClr val="bg2"/>
                </a:solidFill>
              </a:rPr>
              <a:t>generalization</a:t>
            </a:r>
            <a:r>
              <a:rPr lang="tr-TR" sz="1200" dirty="0">
                <a:solidFill>
                  <a:schemeClr val="bg2"/>
                </a:solidFill>
              </a:rPr>
              <a:t> of on-</a:t>
            </a:r>
            <a:r>
              <a:rPr lang="tr-TR" sz="1200" dirty="0" err="1">
                <a:solidFill>
                  <a:schemeClr val="bg2"/>
                </a:solidFill>
              </a:rPr>
              <a:t>line</a:t>
            </a:r>
            <a:r>
              <a:rPr lang="tr-TR" sz="1200" dirty="0">
                <a:solidFill>
                  <a:schemeClr val="bg2"/>
                </a:solidFill>
              </a:rPr>
              <a:t> </a:t>
            </a:r>
            <a:r>
              <a:rPr lang="tr-TR" sz="1200" dirty="0" err="1">
                <a:solidFill>
                  <a:schemeClr val="bg2"/>
                </a:solidFill>
              </a:rPr>
              <a:t>learning</a:t>
            </a:r>
            <a:r>
              <a:rPr lang="tr-TR" sz="1200" dirty="0">
                <a:solidFill>
                  <a:schemeClr val="bg2"/>
                </a:solidFill>
              </a:rPr>
              <a:t> </a:t>
            </a:r>
            <a:r>
              <a:rPr lang="tr-TR" sz="1200" dirty="0" err="1">
                <a:solidFill>
                  <a:schemeClr val="bg2"/>
                </a:solidFill>
              </a:rPr>
              <a:t>and</a:t>
            </a:r>
            <a:r>
              <a:rPr lang="tr-TR" sz="1200" dirty="0">
                <a:solidFill>
                  <a:schemeClr val="bg2"/>
                </a:solidFill>
              </a:rPr>
              <a:t> an </a:t>
            </a:r>
            <a:r>
              <a:rPr lang="tr-TR" sz="1200" dirty="0" err="1">
                <a:solidFill>
                  <a:schemeClr val="bg2"/>
                </a:solidFill>
              </a:rPr>
              <a:t>application</a:t>
            </a:r>
            <a:r>
              <a:rPr lang="tr-TR" sz="1200" dirty="0">
                <a:solidFill>
                  <a:schemeClr val="bg2"/>
                </a:solidFill>
              </a:rPr>
              <a:t> </a:t>
            </a:r>
            <a:r>
              <a:rPr lang="tr-TR" sz="1200" dirty="0" err="1">
                <a:solidFill>
                  <a:schemeClr val="bg2"/>
                </a:solidFill>
              </a:rPr>
              <a:t>to</a:t>
            </a:r>
            <a:r>
              <a:rPr lang="tr-TR" sz="1200" dirty="0">
                <a:solidFill>
                  <a:schemeClr val="bg2"/>
                </a:solidFill>
              </a:rPr>
              <a:t> </a:t>
            </a:r>
            <a:r>
              <a:rPr lang="tr-TR" sz="1200" dirty="0" err="1">
                <a:solidFill>
                  <a:schemeClr val="bg2"/>
                </a:solidFill>
              </a:rPr>
              <a:t>boosting</a:t>
            </a:r>
            <a:r>
              <a:rPr lang="tr-TR" sz="1200" dirty="0">
                <a:solidFill>
                  <a:schemeClr val="bg2"/>
                </a:solidFill>
              </a:rPr>
              <a:t>. </a:t>
            </a:r>
            <a:r>
              <a:rPr lang="tr-TR" sz="1200" i="1" dirty="0" err="1">
                <a:solidFill>
                  <a:schemeClr val="bg2"/>
                </a:solidFill>
              </a:rPr>
              <a:t>Journal</a:t>
            </a:r>
            <a:r>
              <a:rPr lang="tr-TR" sz="1200" i="1" dirty="0">
                <a:solidFill>
                  <a:schemeClr val="bg2"/>
                </a:solidFill>
              </a:rPr>
              <a:t> of </a:t>
            </a:r>
            <a:r>
              <a:rPr lang="tr-TR" sz="1200" i="1" dirty="0" err="1">
                <a:solidFill>
                  <a:schemeClr val="bg2"/>
                </a:solidFill>
              </a:rPr>
              <a:t>Computer</a:t>
            </a:r>
            <a:r>
              <a:rPr lang="tr-TR" sz="1200" i="1" dirty="0">
                <a:solidFill>
                  <a:schemeClr val="bg2"/>
                </a:solidFill>
              </a:rPr>
              <a:t> </a:t>
            </a:r>
            <a:r>
              <a:rPr lang="tr-TR" sz="1200" i="1" dirty="0" err="1">
                <a:solidFill>
                  <a:schemeClr val="bg2"/>
                </a:solidFill>
              </a:rPr>
              <a:t>and</a:t>
            </a:r>
            <a:r>
              <a:rPr lang="tr-TR" sz="1200" i="1" dirty="0">
                <a:solidFill>
                  <a:schemeClr val="bg2"/>
                </a:solidFill>
              </a:rPr>
              <a:t> </a:t>
            </a:r>
            <a:r>
              <a:rPr lang="tr-TR" sz="1200" i="1" dirty="0" err="1">
                <a:solidFill>
                  <a:schemeClr val="bg2"/>
                </a:solidFill>
              </a:rPr>
              <a:t>System</a:t>
            </a:r>
            <a:r>
              <a:rPr lang="tr-TR" sz="1200" i="1" dirty="0">
                <a:solidFill>
                  <a:schemeClr val="bg2"/>
                </a:solidFill>
              </a:rPr>
              <a:t> </a:t>
            </a:r>
            <a:r>
              <a:rPr lang="tr-TR" sz="1200" i="1" dirty="0" err="1">
                <a:solidFill>
                  <a:schemeClr val="bg2"/>
                </a:solidFill>
              </a:rPr>
              <a:t>Sciences</a:t>
            </a:r>
            <a:r>
              <a:rPr lang="tr-TR" sz="1200" dirty="0">
                <a:solidFill>
                  <a:schemeClr val="bg2"/>
                </a:solidFill>
              </a:rPr>
              <a:t>, 55(1), 119-139.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bg2"/>
                </a:solidFill>
              </a:rPr>
              <a:t>Wolpert</a:t>
            </a:r>
            <a:r>
              <a:rPr lang="tr-TR" sz="1200" dirty="0">
                <a:solidFill>
                  <a:schemeClr val="bg2"/>
                </a:solidFill>
              </a:rPr>
              <a:t>, D. H. (1992). </a:t>
            </a:r>
            <a:r>
              <a:rPr lang="tr-TR" sz="1200" dirty="0" err="1">
                <a:solidFill>
                  <a:schemeClr val="bg2"/>
                </a:solidFill>
              </a:rPr>
              <a:t>Stacked</a:t>
            </a:r>
            <a:r>
              <a:rPr lang="tr-TR" sz="1200" dirty="0">
                <a:solidFill>
                  <a:schemeClr val="bg2"/>
                </a:solidFill>
              </a:rPr>
              <a:t> </a:t>
            </a:r>
            <a:r>
              <a:rPr lang="tr-TR" sz="1200" dirty="0" err="1">
                <a:solidFill>
                  <a:schemeClr val="bg2"/>
                </a:solidFill>
              </a:rPr>
              <a:t>generalization</a:t>
            </a:r>
            <a:r>
              <a:rPr lang="tr-TR" sz="1200" dirty="0">
                <a:solidFill>
                  <a:schemeClr val="bg2"/>
                </a:solidFill>
              </a:rPr>
              <a:t>. </a:t>
            </a:r>
            <a:r>
              <a:rPr lang="tr-TR" sz="1200" i="1" dirty="0" err="1">
                <a:solidFill>
                  <a:schemeClr val="bg2"/>
                </a:solidFill>
              </a:rPr>
              <a:t>Neural</a:t>
            </a:r>
            <a:r>
              <a:rPr lang="tr-TR" sz="1200" i="1" dirty="0">
                <a:solidFill>
                  <a:schemeClr val="bg2"/>
                </a:solidFill>
              </a:rPr>
              <a:t> Networks</a:t>
            </a:r>
            <a:r>
              <a:rPr lang="tr-TR" sz="1200" dirty="0">
                <a:solidFill>
                  <a:schemeClr val="bg2"/>
                </a:solidFill>
              </a:rPr>
              <a:t>, 5(2), 241-259. </a:t>
            </a:r>
            <a:r>
              <a:rPr lang="tr-TR" sz="1200" i="1" dirty="0">
                <a:solidFill>
                  <a:schemeClr val="bg2"/>
                </a:solidFill>
              </a:rPr>
              <a:t>(</a:t>
            </a:r>
            <a:r>
              <a:rPr lang="tr-TR" sz="1200" i="1" dirty="0" err="1">
                <a:solidFill>
                  <a:schemeClr val="bg2"/>
                </a:solidFill>
              </a:rPr>
              <a:t>Stacking</a:t>
            </a:r>
            <a:r>
              <a:rPr lang="tr-TR" sz="1200" i="1" dirty="0">
                <a:solidFill>
                  <a:schemeClr val="bg2"/>
                </a:solidFill>
              </a:rPr>
              <a:t> yönteminin orijinal makalesi)</a:t>
            </a:r>
            <a:endParaRPr lang="tr-TR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bg2"/>
                </a:solidFill>
              </a:rPr>
              <a:t>Jolliffe</a:t>
            </a:r>
            <a:r>
              <a:rPr lang="tr-TR" sz="1200" dirty="0">
                <a:solidFill>
                  <a:schemeClr val="bg2"/>
                </a:solidFill>
              </a:rPr>
              <a:t>, I. T. (2002). </a:t>
            </a:r>
            <a:r>
              <a:rPr lang="tr-TR" sz="1200" i="1" dirty="0" err="1">
                <a:solidFill>
                  <a:schemeClr val="bg2"/>
                </a:solidFill>
              </a:rPr>
              <a:t>Principal</a:t>
            </a:r>
            <a:r>
              <a:rPr lang="tr-TR" sz="1200" i="1" dirty="0">
                <a:solidFill>
                  <a:schemeClr val="bg2"/>
                </a:solidFill>
              </a:rPr>
              <a:t> Component Analysis</a:t>
            </a:r>
            <a:r>
              <a:rPr lang="tr-TR" sz="1200" dirty="0">
                <a:solidFill>
                  <a:schemeClr val="bg2"/>
                </a:solidFill>
              </a:rPr>
              <a:t> (2nd ed.). </a:t>
            </a:r>
            <a:r>
              <a:rPr lang="tr-TR" sz="1200" dirty="0" err="1">
                <a:solidFill>
                  <a:schemeClr val="bg2"/>
                </a:solidFill>
              </a:rPr>
              <a:t>Springer</a:t>
            </a:r>
            <a:r>
              <a:rPr lang="tr-TR" sz="1200" dirty="0">
                <a:solidFill>
                  <a:schemeClr val="bg2"/>
                </a:solidFill>
              </a:rPr>
              <a:t>. </a:t>
            </a:r>
            <a:endParaRPr lang="tr-TR" sz="1200" i="1" dirty="0">
              <a:solidFill>
                <a:schemeClr val="bg2"/>
              </a:solidFill>
            </a:endParaRPr>
          </a:p>
          <a:p>
            <a:endParaRPr lang="tr-TR" sz="1200" dirty="0">
              <a:solidFill>
                <a:schemeClr val="bg2"/>
              </a:solidFill>
            </a:endParaRPr>
          </a:p>
          <a:p>
            <a:r>
              <a:rPr lang="tr-TR" sz="1200" b="1" dirty="0">
                <a:solidFill>
                  <a:schemeClr val="bg2"/>
                </a:solidFill>
              </a:rPr>
              <a:t>Yazılım ve Kütüphaneler:</a:t>
            </a:r>
          </a:p>
          <a:p>
            <a:endParaRPr lang="tr-TR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bg2"/>
                </a:solidFill>
              </a:rPr>
              <a:t>Pedregosa</a:t>
            </a:r>
            <a:r>
              <a:rPr lang="tr-TR" sz="1200" dirty="0">
                <a:solidFill>
                  <a:schemeClr val="bg2"/>
                </a:solidFill>
              </a:rPr>
              <a:t>, F. et al. (2011). </a:t>
            </a:r>
            <a:r>
              <a:rPr lang="tr-TR" sz="1200" dirty="0" err="1">
                <a:solidFill>
                  <a:schemeClr val="bg2"/>
                </a:solidFill>
              </a:rPr>
              <a:t>Scikit-learn</a:t>
            </a:r>
            <a:r>
              <a:rPr lang="tr-TR" sz="1200" dirty="0">
                <a:solidFill>
                  <a:schemeClr val="bg2"/>
                </a:solidFill>
              </a:rPr>
              <a:t>: Machine Learning in Python. </a:t>
            </a:r>
            <a:r>
              <a:rPr lang="tr-TR" sz="1200" i="1" dirty="0" err="1">
                <a:solidFill>
                  <a:schemeClr val="bg2"/>
                </a:solidFill>
              </a:rPr>
              <a:t>Journal</a:t>
            </a:r>
            <a:r>
              <a:rPr lang="tr-TR" sz="1200" i="1" dirty="0">
                <a:solidFill>
                  <a:schemeClr val="bg2"/>
                </a:solidFill>
              </a:rPr>
              <a:t> of Machine Learning </a:t>
            </a:r>
            <a:r>
              <a:rPr lang="tr-TR" sz="1200" i="1" dirty="0" err="1">
                <a:solidFill>
                  <a:schemeClr val="bg2"/>
                </a:solidFill>
              </a:rPr>
              <a:t>Research</a:t>
            </a:r>
            <a:r>
              <a:rPr lang="tr-TR" sz="1200" dirty="0">
                <a:solidFill>
                  <a:schemeClr val="bg2"/>
                </a:solidFill>
              </a:rPr>
              <a:t>, 12, 2825 2830. </a:t>
            </a:r>
          </a:p>
        </p:txBody>
      </p:sp>
    </p:spTree>
    <p:extLst>
      <p:ext uri="{BB962C8B-B14F-4D97-AF65-F5344CB8AC3E}">
        <p14:creationId xmlns:p14="http://schemas.microsoft.com/office/powerpoint/2010/main" val="3663824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1CD92-BB57-8FB0-07F1-44DBA36C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E3D9C5-76E6-BBA3-F1E3-67EF99E76619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3EA1B42-8C65-E4B1-8795-5DA2E755D40E}"/>
              </a:ext>
            </a:extLst>
          </p:cNvPr>
          <p:cNvSpPr/>
          <p:nvPr/>
        </p:nvSpPr>
        <p:spPr>
          <a:xfrm>
            <a:off x="974187" y="2141102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40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BENİ DİNLEDİĞİNİZ İÇİN </a:t>
            </a:r>
          </a:p>
          <a:p>
            <a:pPr marL="0" indent="0" algn="ctr">
              <a:buNone/>
            </a:pPr>
            <a:r>
              <a:rPr lang="tr-TR" sz="40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 EDERİM.</a:t>
            </a:r>
            <a:endParaRPr lang="en-US" sz="40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9A4240F1-164A-AA4D-A935-C13A3D7B45FA}"/>
              </a:ext>
            </a:extLst>
          </p:cNvPr>
          <p:cNvSpPr/>
          <p:nvPr/>
        </p:nvSpPr>
        <p:spPr>
          <a:xfrm>
            <a:off x="457200" y="48646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Şeyda Aytemür · Tekirdağ Namık Kemal Üniversitesi · Çorlu Mühendislik Fakültesi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9086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1320</Words>
  <Application>Microsoft Office PowerPoint</Application>
  <PresentationFormat>Ekran Gösterisi (16:9)</PresentationFormat>
  <Paragraphs>254</Paragraphs>
  <Slides>16</Slides>
  <Notes>16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Kalp Hastalığı Tahmini - Kolektif Öğrenme</dc:title>
  <dc:subject>PptxGenJS Presentation</dc:subject>
  <dc:creator>Şeyda Aytemür</dc:creator>
  <cp:lastModifiedBy>ŞEYDA AYTEMÜR</cp:lastModifiedBy>
  <cp:revision>16</cp:revision>
  <dcterms:created xsi:type="dcterms:W3CDTF">2026-04-26T16:00:22Z</dcterms:created>
  <dcterms:modified xsi:type="dcterms:W3CDTF">2026-04-28T08:38:54Z</dcterms:modified>
</cp:coreProperties>
</file>