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342"/>
                </a:solidFill>
                <a:latin typeface="Arial"/>
              </a:defRPr>
            </a:pPr>
            <a:r>
              <a:rPr lang="tr-TR" sz="1200" b="0" i="0" u="none" strike="noStrike">
                <a:solidFill>
                  <a:srgbClr val="0A2342"/>
                </a:solidFill>
                <a:latin typeface="Arial"/>
              </a:rPr>
              <a:t>Baseline — Model Performansı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C4E8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B3C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AdaBoost</c:v>
                </c:pt>
                <c:pt idx="2">
                  <c:v>Stacking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75.900000000000006</c:v>
                </c:pt>
                <c:pt idx="1">
                  <c:v>87</c:v>
                </c:pt>
                <c:pt idx="2">
                  <c:v>85.2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6A-465D-9030-B7DAA114C2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B3C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AdaBoost</c:v>
                </c:pt>
                <c:pt idx="2">
                  <c:v>Stacking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75.5</c:v>
                </c:pt>
                <c:pt idx="1">
                  <c:v>86.8</c:v>
                </c:pt>
                <c:pt idx="2">
                  <c:v>84.8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C6A-465D-9030-B7DAA114C24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CV-Mean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B3C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AdaBoost</c:v>
                </c:pt>
                <c:pt idx="2">
                  <c:v>Stacking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80.599999999999994</c:v>
                </c:pt>
                <c:pt idx="1">
                  <c:v>80.599999999999994</c:v>
                </c:pt>
                <c:pt idx="2">
                  <c:v>83.8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C6A-465D-9030-B7DAA114C2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2EC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tr-TR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A2342"/>
                </a:solidFill>
                <a:latin typeface="Arial"/>
              </a:defRPr>
            </a:pPr>
            <a:r>
              <a:rPr lang="tr-TR" sz="1200" b="0" i="0" u="none" strike="noStrike">
                <a:solidFill>
                  <a:srgbClr val="0A2342"/>
                </a:solidFill>
                <a:latin typeface="Arial"/>
              </a:rPr>
              <a:t>Advanced (PCA) — Model Performansı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Accuracy</c:v>
                </c:pt>
              </c:strCache>
            </c:strRef>
          </c:tx>
          <c:spPr>
            <a:solidFill>
              <a:srgbClr val="1C4E8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B3C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AdaBoost</c:v>
                </c:pt>
                <c:pt idx="2">
                  <c:v>Stacking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88.9</c:v>
                </c:pt>
                <c:pt idx="1">
                  <c:v>85.2</c:v>
                </c:pt>
                <c:pt idx="2">
                  <c:v>88.9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2C0-4EF6-89A8-231D616447A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F1-Score</c:v>
                </c:pt>
              </c:strCache>
            </c:strRef>
          </c:tx>
          <c:spPr>
            <a:solidFill>
              <a:srgbClr val="00B4D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B3C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AdaBoost</c:v>
                </c:pt>
                <c:pt idx="2">
                  <c:v>Stacking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88.6</c:v>
                </c:pt>
                <c:pt idx="1">
                  <c:v>84.8</c:v>
                </c:pt>
                <c:pt idx="2">
                  <c:v>88.8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2C0-4EF6-89A8-231D616447A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CV-Mean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A2B3C"/>
                    </a:solidFill>
                    <a:latin typeface="Arial"/>
                  </a:defRPr>
                </a:pPr>
                <a:endParaRPr lang="tr-T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Random Forest</c:v>
                </c:pt>
                <c:pt idx="1">
                  <c:v>AdaBoost</c:v>
                </c:pt>
                <c:pt idx="2">
                  <c:v>Stacking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81.5</c:v>
                </c:pt>
                <c:pt idx="1">
                  <c:v>76.400000000000006</c:v>
                </c:pt>
                <c:pt idx="2">
                  <c:v>82.4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2C0-4EF6-89A8-231D616447A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A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60"/>
        </c:scaling>
        <c:delete val="0"/>
        <c:axPos val="l"/>
        <c:majorGridlines>
          <c:spPr>
            <a:ln w="6350" cap="flat">
              <a:solidFill>
                <a:srgbClr val="E2EC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A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033428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D44538-755A-6906-DF4F-6A4D50227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90A5E3-F39B-82BF-D131-48BC44A90B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A58E80-B779-E69D-D3E3-152EC98936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DC4AFD-B1B6-4C25-1304-8C111DFC54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686296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F84BE9-C43A-48AD-5B76-E46AA087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DBE7A2-ADDB-21BD-A2A6-BFAD2CB52A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356E53-8241-511A-5F59-54C02C8B35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ACB77-20C1-362E-66F8-A16DDFF01A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6940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rishidamarla/heart-disease-prediction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4008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4572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Kolektif Öğrenmeye Giriş — Dönem Ödevi Sunumu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548640" y="960120"/>
            <a:ext cx="8046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Hastalığı Tahmini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için Kolektif Öğrenme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2834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· AdaBoost · Stacking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3474720"/>
            <a:ext cx="3840480" cy="1234440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8" name="Text 5"/>
          <p:cNvSpPr/>
          <p:nvPr/>
        </p:nvSpPr>
        <p:spPr>
          <a:xfrm>
            <a:off x="685800" y="3547872"/>
            <a:ext cx="3566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Şeyda Aytemür
</a:t>
            </a:r>
            <a:r>
              <a:rPr lang="en-US" sz="1100" dirty="0">
                <a:solidFill>
                  <a:srgbClr val="A0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Tekirdağ Namık Kemal Üniversitesi
Çorlu Mühendislik Fakültesi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İÇİNDEKİLER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621792" y="10698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115568" y="105156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Problemin Tanımı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15568" y="149047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Kalp hastalığı ve makine öğrenmesi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892040" y="96012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Shape 7"/>
          <p:cNvSpPr/>
          <p:nvPr/>
        </p:nvSpPr>
        <p:spPr>
          <a:xfrm>
            <a:off x="4892040" y="109728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8"/>
          <p:cNvSpPr/>
          <p:nvPr/>
        </p:nvSpPr>
        <p:spPr>
          <a:xfrm>
            <a:off x="5056632" y="106984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550408" y="105156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Seti &amp; Ön İşleme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550408" y="149047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Disease Prediction (Kaggle)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4" name="Shape 12"/>
          <p:cNvSpPr/>
          <p:nvPr/>
        </p:nvSpPr>
        <p:spPr>
          <a:xfrm>
            <a:off x="457200" y="242316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3"/>
          <p:cNvSpPr/>
          <p:nvPr/>
        </p:nvSpPr>
        <p:spPr>
          <a:xfrm>
            <a:off x="621792" y="239572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115568" y="237744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Yöntemler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15568" y="281635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· AdaBoost · Stacking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228600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7"/>
          <p:cNvSpPr/>
          <p:nvPr/>
        </p:nvSpPr>
        <p:spPr>
          <a:xfrm>
            <a:off x="4892040" y="242316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0" name="Text 18"/>
          <p:cNvSpPr/>
          <p:nvPr/>
        </p:nvSpPr>
        <p:spPr>
          <a:xfrm>
            <a:off x="5056632" y="239572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550408" y="237744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Deneysel Tasarım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550408" y="281635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&amp; Advanced (PCA) senaryoları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61188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4" name="Shape 22"/>
          <p:cNvSpPr/>
          <p:nvPr/>
        </p:nvSpPr>
        <p:spPr>
          <a:xfrm>
            <a:off x="457200" y="374904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5" name="Text 23"/>
          <p:cNvSpPr/>
          <p:nvPr/>
        </p:nvSpPr>
        <p:spPr>
          <a:xfrm>
            <a:off x="621792" y="372160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115568" y="370332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Sonuçlar &amp; Karşılaştırma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115568" y="414223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Metrikler, grafikler, karmaşıklık matrisi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892040" y="3611880"/>
            <a:ext cx="4114800" cy="1097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9" name="Shape 27"/>
          <p:cNvSpPr/>
          <p:nvPr/>
        </p:nvSpPr>
        <p:spPr>
          <a:xfrm>
            <a:off x="4892040" y="3749040"/>
            <a:ext cx="54864" cy="82296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Text 28"/>
          <p:cNvSpPr/>
          <p:nvPr/>
        </p:nvSpPr>
        <p:spPr>
          <a:xfrm>
            <a:off x="5056632" y="372160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5550408" y="3703320"/>
            <a:ext cx="33375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Tartışma &amp; Sonuç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550408" y="4142232"/>
            <a:ext cx="3337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Bulgular ve gelecek çalışmalar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Problemin Tanımı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5303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54864" cy="868680"/>
          </a:xfrm>
          <a:prstGeom prst="rect">
            <a:avLst/>
          </a:prstGeom>
          <a:solidFill>
            <a:srgbClr val="E74C3C"/>
          </a:solidFill>
          <a:ln w="12700">
            <a:solidFill>
              <a:srgbClr val="E74C3C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216152"/>
            <a:ext cx="384048" cy="3840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43000" y="97840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Kardiyovasküler Hastalıklar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43000" y="1344168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Dünya genelinde önde gelen ölüm nedenlerinden biri. WHO'ya göre her yıl ~17,9 milyon insan hayatını kaybediyor.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2194560"/>
            <a:ext cx="5303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Shape 6"/>
          <p:cNvSpPr/>
          <p:nvPr/>
        </p:nvSpPr>
        <p:spPr>
          <a:xfrm>
            <a:off x="457200" y="2331720"/>
            <a:ext cx="54864" cy="868680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542032"/>
            <a:ext cx="384048" cy="38404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230428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Erken Teşhisin Önemi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43000" y="2670048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faktörlerinin erken tespiti, müdahale imkânını artırır ve tedavi maliyetini düşürür.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3520440"/>
            <a:ext cx="530352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4" name="Shape 10"/>
          <p:cNvSpPr/>
          <p:nvPr/>
        </p:nvSpPr>
        <p:spPr>
          <a:xfrm>
            <a:off x="457200" y="3657600"/>
            <a:ext cx="54864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86791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43000" y="3630168"/>
            <a:ext cx="43891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Makine Öğrenmesinin Rolü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143000" y="3995928"/>
            <a:ext cx="43891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Klinik verilerden örüntü öğrenen modeller, hekime karar destek sağlayarak teşhis doğruluğunu artırır.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035040" y="8229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4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Çalışmanın Hedefi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035040" y="1261872"/>
            <a:ext cx="132588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0" name="Text 15"/>
          <p:cNvSpPr/>
          <p:nvPr/>
        </p:nvSpPr>
        <p:spPr>
          <a:xfrm>
            <a:off x="6035040" y="139903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21" name="Text 16"/>
          <p:cNvSpPr/>
          <p:nvPr/>
        </p:nvSpPr>
        <p:spPr>
          <a:xfrm>
            <a:off x="6035040" y="20116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Kolektif Öğrenme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Yöntemi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7516368" y="1261872"/>
            <a:ext cx="132588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3" name="Text 18"/>
          <p:cNvSpPr/>
          <p:nvPr/>
        </p:nvSpPr>
        <p:spPr>
          <a:xfrm>
            <a:off x="7516368" y="139903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400" dirty="0"/>
          </a:p>
        </p:txBody>
      </p:sp>
      <p:sp>
        <p:nvSpPr>
          <p:cNvPr id="24" name="Text 19"/>
          <p:cNvSpPr/>
          <p:nvPr/>
        </p:nvSpPr>
        <p:spPr>
          <a:xfrm>
            <a:off x="7516368" y="20116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Deney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Senaryosu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6035040" y="2816352"/>
            <a:ext cx="132588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6" name="Text 21"/>
          <p:cNvSpPr/>
          <p:nvPr/>
        </p:nvSpPr>
        <p:spPr>
          <a:xfrm>
            <a:off x="6035040" y="29535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</a:t>
            </a:r>
            <a:endParaRPr lang="en-US" sz="3400" dirty="0"/>
          </a:p>
        </p:txBody>
      </p:sp>
      <p:sp>
        <p:nvSpPr>
          <p:cNvPr id="27" name="Text 22"/>
          <p:cNvSpPr/>
          <p:nvPr/>
        </p:nvSpPr>
        <p:spPr>
          <a:xfrm>
            <a:off x="6035040" y="35661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Kayıt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7516368" y="2816352"/>
            <a:ext cx="132588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9" name="Text 24"/>
          <p:cNvSpPr/>
          <p:nvPr/>
        </p:nvSpPr>
        <p:spPr>
          <a:xfrm>
            <a:off x="7516368" y="2953512"/>
            <a:ext cx="1325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400" dirty="0"/>
          </a:p>
        </p:txBody>
      </p:sp>
      <p:sp>
        <p:nvSpPr>
          <p:cNvPr id="30" name="Text 25"/>
          <p:cNvSpPr/>
          <p:nvPr/>
        </p:nvSpPr>
        <p:spPr>
          <a:xfrm>
            <a:off x="7516368" y="356616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Klinik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Veri Seti &amp; Ön İşleme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3840480" cy="38404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C4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Disease Prediction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94360" y="1371600"/>
            <a:ext cx="1097280" cy="274320"/>
          </a:xfrm>
          <a:prstGeom prst="rect">
            <a:avLst/>
          </a:prstGeom>
          <a:solidFill>
            <a:srgbClr val="00B4D8"/>
          </a:solidFill>
          <a:ln/>
        </p:spPr>
        <p:txBody>
          <a:bodyPr wrap="square" lIns="25400" tIns="25400" rIns="25400" bIns="2540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94360" y="178308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· Sex · Chest Pain Type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94360" y="213055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 Pressure (BP)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94360" y="2478024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Cholesterol</a:t>
            </a:r>
            <a:r>
              <a:rPr lang="tr-TR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4360" y="2825496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Heart Rate (Max HR)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94360" y="3172968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Depression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94360" y="3520440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Thallium Scan · Vessels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94360" y="3867912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Angina · Slope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94360" y="4215384"/>
            <a:ext cx="3566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Hedef: Heart Disease (0/1)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72000" y="82296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 İşleme Adımları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0" y="1261872"/>
            <a:ext cx="384048" cy="384048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4"/>
          <p:cNvSpPr/>
          <p:nvPr/>
        </p:nvSpPr>
        <p:spPr>
          <a:xfrm>
            <a:off x="4572000" y="126187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07492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Etiket Kodlama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74920" y="15636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LabelEncoder ile hedef değişken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(Presence/Absence → 1/0)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64024" y="1645920"/>
            <a:ext cx="0" cy="585216"/>
          </a:xfrm>
          <a:prstGeom prst="line">
            <a:avLst/>
          </a:prstGeom>
          <a:noFill/>
          <a:ln w="19050">
            <a:solidFill>
              <a:srgbClr val="C5D8EA"/>
            </a:solidFill>
            <a:prstDash val="dash"/>
          </a:ln>
        </p:spPr>
        <p:txBody>
          <a:bodyPr/>
          <a:lstStyle/>
          <a:p>
            <a:endParaRPr lang="tr-TR"/>
          </a:p>
        </p:txBody>
      </p:sp>
      <p:sp>
        <p:nvSpPr>
          <p:cNvPr id="20" name="Shape 18"/>
          <p:cNvSpPr/>
          <p:nvPr/>
        </p:nvSpPr>
        <p:spPr>
          <a:xfrm>
            <a:off x="4572000" y="2231136"/>
            <a:ext cx="384048" cy="384048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1" name="Text 19"/>
          <p:cNvSpPr/>
          <p:nvPr/>
        </p:nvSpPr>
        <p:spPr>
          <a:xfrm>
            <a:off x="4572000" y="2231136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74920" y="220370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tr-TR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</a:t>
            </a:r>
            <a:r>
              <a:rPr lang="en-US" sz="1200" b="1" dirty="0" err="1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Bölme</a:t>
            </a:r>
            <a:r>
              <a:rPr lang="tr-TR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 Doğrulama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074920" y="2532888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tr-TR" sz="1050" dirty="0" err="1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Hold-Out</a:t>
            </a:r>
            <a:r>
              <a:rPr lang="tr-TR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%80 Eğitim / %20 Test </a:t>
            </a:r>
          </a:p>
          <a:p>
            <a:pPr marL="0" indent="0">
              <a:buNone/>
            </a:pPr>
            <a:r>
              <a:rPr lang="tr-TR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</a:t>
            </a:r>
            <a:r>
              <a:rPr lang="tr-TR" sz="1050" dirty="0" err="1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r>
              <a:rPr lang="tr-TR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Eğitim setinde 5-Katlı Çapraz Doğrulama (</a:t>
            </a:r>
            <a:r>
              <a:rPr lang="tr-TR" sz="1050" dirty="0" err="1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Overfitting</a:t>
            </a:r>
            <a:r>
              <a:rPr lang="tr-TR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kontrolü için CV=5)</a:t>
            </a:r>
          </a:p>
        </p:txBody>
      </p:sp>
      <p:sp>
        <p:nvSpPr>
          <p:cNvPr id="24" name="Shape 22"/>
          <p:cNvSpPr/>
          <p:nvPr/>
        </p:nvSpPr>
        <p:spPr>
          <a:xfrm>
            <a:off x="4764024" y="2615184"/>
            <a:ext cx="0" cy="585216"/>
          </a:xfrm>
          <a:prstGeom prst="line">
            <a:avLst/>
          </a:prstGeom>
          <a:noFill/>
          <a:ln w="19050">
            <a:solidFill>
              <a:srgbClr val="C5D8EA"/>
            </a:solidFill>
            <a:prstDash val="dash"/>
          </a:ln>
        </p:spPr>
        <p:txBody>
          <a:bodyPr/>
          <a:lstStyle/>
          <a:p>
            <a:endParaRPr lang="tr-TR"/>
          </a:p>
        </p:txBody>
      </p:sp>
      <p:sp>
        <p:nvSpPr>
          <p:cNvPr id="25" name="Shape 23"/>
          <p:cNvSpPr/>
          <p:nvPr/>
        </p:nvSpPr>
        <p:spPr>
          <a:xfrm>
            <a:off x="4572000" y="3200400"/>
            <a:ext cx="384048" cy="384048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6" name="Text 24"/>
          <p:cNvSpPr/>
          <p:nvPr/>
        </p:nvSpPr>
        <p:spPr>
          <a:xfrm>
            <a:off x="4572000" y="32004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074920" y="3172968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Standartlaştırma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074920" y="3502152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StandardScaler — sıfır ortalama,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birim varyans (sadece train üzerinden fit)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64024" y="3584448"/>
            <a:ext cx="0" cy="585216"/>
          </a:xfrm>
          <a:prstGeom prst="line">
            <a:avLst/>
          </a:prstGeom>
          <a:noFill/>
          <a:ln w="19050">
            <a:solidFill>
              <a:srgbClr val="C5D8EA"/>
            </a:solidFill>
            <a:prstDash val="dash"/>
          </a:ln>
        </p:spPr>
        <p:txBody>
          <a:bodyPr/>
          <a:lstStyle/>
          <a:p>
            <a:endParaRPr lang="tr-TR"/>
          </a:p>
        </p:txBody>
      </p:sp>
      <p:sp>
        <p:nvSpPr>
          <p:cNvPr id="30" name="Shape 28"/>
          <p:cNvSpPr/>
          <p:nvPr/>
        </p:nvSpPr>
        <p:spPr>
          <a:xfrm>
            <a:off x="4572000" y="4169664"/>
            <a:ext cx="384048" cy="384048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1" name="Text 29"/>
          <p:cNvSpPr/>
          <p:nvPr/>
        </p:nvSpPr>
        <p:spPr>
          <a:xfrm>
            <a:off x="4572000" y="416966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074920" y="4142232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(Advanced)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74920" y="4471416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n_components=0.95 → 13 özellik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12 bileşene indirgeme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Kolektif Öğrenme Yöntemleri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47472" y="868680"/>
            <a:ext cx="2743200" cy="9601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" y="96012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97280" y="9326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097280" y="11887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47472" y="1828800"/>
            <a:ext cx="27432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8" name="Text 5"/>
          <p:cNvSpPr/>
          <p:nvPr/>
        </p:nvSpPr>
        <p:spPr>
          <a:xfrm>
            <a:off x="512064" y="192024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örneklemesi + rastgele özellik seçimi ile birbirinden bağımsız karar ağaçları oluşturur.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12064" y="2697480"/>
            <a:ext cx="109728" cy="10972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0" name="Text 7"/>
          <p:cNvSpPr/>
          <p:nvPr/>
        </p:nvSpPr>
        <p:spPr>
          <a:xfrm>
            <a:off x="694944" y="267004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bağımsız karar ağacı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12064" y="3172968"/>
            <a:ext cx="109728" cy="10972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2" name="Text 9"/>
          <p:cNvSpPr/>
          <p:nvPr/>
        </p:nvSpPr>
        <p:spPr>
          <a:xfrm>
            <a:off x="694944" y="314553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Çoğunluk oylaması ile tahmin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12064" y="3648456"/>
            <a:ext cx="109728" cy="10972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4" name="Text 11"/>
          <p:cNvSpPr/>
          <p:nvPr/>
        </p:nvSpPr>
        <p:spPr>
          <a:xfrm>
            <a:off x="694944" y="362102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varyansı azaltır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12064" y="4123944"/>
            <a:ext cx="109728" cy="109728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6" name="Text 13"/>
          <p:cNvSpPr/>
          <p:nvPr/>
        </p:nvSpPr>
        <p:spPr>
          <a:xfrm>
            <a:off x="694944" y="409651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 desteği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200400" y="868680"/>
            <a:ext cx="2743200" cy="9601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960120"/>
            <a:ext cx="502920" cy="502920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950208" y="9326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3950208" y="11887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3200400" y="1828800"/>
            <a:ext cx="27432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22" name="Text 18"/>
          <p:cNvSpPr/>
          <p:nvPr/>
        </p:nvSpPr>
        <p:spPr>
          <a:xfrm>
            <a:off x="3364992" y="192024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Ardışık zayıf öğreniciler; yanlış sınıflanan örneklere giderek artan ağırlık atar.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3364992" y="2697480"/>
            <a:ext cx="109728" cy="10972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4" name="Text 20"/>
          <p:cNvSpPr/>
          <p:nvPr/>
        </p:nvSpPr>
        <p:spPr>
          <a:xfrm>
            <a:off x="3547872" y="267004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Sıralı (sequential) öğrenme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3364992" y="3172968"/>
            <a:ext cx="109728" cy="10972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6" name="Text 22"/>
          <p:cNvSpPr/>
          <p:nvPr/>
        </p:nvSpPr>
        <p:spPr>
          <a:xfrm>
            <a:off x="3547872" y="314553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Yanlışları hedefler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3364992" y="3648456"/>
            <a:ext cx="109728" cy="10972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28" name="Text 24"/>
          <p:cNvSpPr/>
          <p:nvPr/>
        </p:nvSpPr>
        <p:spPr>
          <a:xfrm>
            <a:off x="3547872" y="362102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önyargıyı azaltır</a:t>
            </a:r>
            <a:endParaRPr lang="en-US" sz="1100" dirty="0"/>
          </a:p>
        </p:txBody>
      </p:sp>
      <p:sp>
        <p:nvSpPr>
          <p:cNvPr id="29" name="Shape 25"/>
          <p:cNvSpPr/>
          <p:nvPr/>
        </p:nvSpPr>
        <p:spPr>
          <a:xfrm>
            <a:off x="3364992" y="4123944"/>
            <a:ext cx="109728" cy="109728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0" name="Text 26"/>
          <p:cNvSpPr/>
          <p:nvPr/>
        </p:nvSpPr>
        <p:spPr>
          <a:xfrm>
            <a:off x="3547872" y="409651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tabanları (stumps)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053328" y="868680"/>
            <a:ext cx="2743200" cy="960120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960120"/>
            <a:ext cx="502920" cy="50292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6803136" y="932688"/>
            <a:ext cx="1874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kern="0" spc="2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6803136" y="1188720"/>
            <a:ext cx="1874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</a:t>
            </a:r>
            <a:endParaRPr lang="en-US" sz="1600" dirty="0"/>
          </a:p>
        </p:txBody>
      </p:sp>
      <p:sp>
        <p:nvSpPr>
          <p:cNvPr id="35" name="Shape 30"/>
          <p:cNvSpPr/>
          <p:nvPr/>
        </p:nvSpPr>
        <p:spPr>
          <a:xfrm>
            <a:off x="6053328" y="1828800"/>
            <a:ext cx="2743200" cy="2926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36" name="Text 31"/>
          <p:cNvSpPr/>
          <p:nvPr/>
        </p:nvSpPr>
        <p:spPr>
          <a:xfrm>
            <a:off x="6217920" y="192024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 + SVC + AdaBoost temel öğrenicilerin tahminleri, Lojistik Regresyon meta-öğreniciye girdi olur.</a:t>
            </a:r>
            <a:endParaRPr lang="en-US" sz="1100" dirty="0"/>
          </a:p>
        </p:txBody>
      </p:sp>
      <p:sp>
        <p:nvSpPr>
          <p:cNvPr id="37" name="Shape 32"/>
          <p:cNvSpPr/>
          <p:nvPr/>
        </p:nvSpPr>
        <p:spPr>
          <a:xfrm>
            <a:off x="6217920" y="2697480"/>
            <a:ext cx="109728" cy="109728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8" name="Text 33"/>
          <p:cNvSpPr/>
          <p:nvPr/>
        </p:nvSpPr>
        <p:spPr>
          <a:xfrm>
            <a:off x="6400800" y="2670048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Heterojen temel öğreniciler</a:t>
            </a:r>
            <a:endParaRPr lang="en-US" sz="1100" dirty="0"/>
          </a:p>
        </p:txBody>
      </p:sp>
      <p:sp>
        <p:nvSpPr>
          <p:cNvPr id="39" name="Shape 34"/>
          <p:cNvSpPr/>
          <p:nvPr/>
        </p:nvSpPr>
        <p:spPr>
          <a:xfrm>
            <a:off x="6217920" y="3172968"/>
            <a:ext cx="109728" cy="109728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0" name="Text 35"/>
          <p:cNvSpPr/>
          <p:nvPr/>
        </p:nvSpPr>
        <p:spPr>
          <a:xfrm>
            <a:off x="6400800" y="3145536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Meta-öğrenici: LogReg</a:t>
            </a:r>
            <a:endParaRPr lang="en-US" sz="1100" dirty="0"/>
          </a:p>
        </p:txBody>
      </p:sp>
      <p:sp>
        <p:nvSpPr>
          <p:cNvPr id="41" name="Shape 36"/>
          <p:cNvSpPr/>
          <p:nvPr/>
        </p:nvSpPr>
        <p:spPr>
          <a:xfrm>
            <a:off x="6217920" y="3648456"/>
            <a:ext cx="109728" cy="109728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2" name="Text 37"/>
          <p:cNvSpPr/>
          <p:nvPr/>
        </p:nvSpPr>
        <p:spPr>
          <a:xfrm>
            <a:off x="6400800" y="3621024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optimizasyonu</a:t>
            </a:r>
            <a:endParaRPr lang="en-US" sz="1100" dirty="0"/>
          </a:p>
        </p:txBody>
      </p:sp>
      <p:sp>
        <p:nvSpPr>
          <p:cNvPr id="43" name="Shape 38"/>
          <p:cNvSpPr/>
          <p:nvPr/>
        </p:nvSpPr>
        <p:spPr>
          <a:xfrm>
            <a:off x="6217920" y="4123944"/>
            <a:ext cx="109728" cy="109728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44" name="Text 39"/>
          <p:cNvSpPr/>
          <p:nvPr/>
        </p:nvSpPr>
        <p:spPr>
          <a:xfrm>
            <a:off x="6400800" y="409651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kararlı performans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Deneysel Tasarım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41248"/>
            <a:ext cx="39776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Shape 2"/>
          <p:cNvSpPr/>
          <p:nvPr/>
        </p:nvSpPr>
        <p:spPr>
          <a:xfrm>
            <a:off x="457200" y="841248"/>
            <a:ext cx="3977640" cy="457200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5" name="Text 3"/>
          <p:cNvSpPr/>
          <p:nvPr/>
        </p:nvSpPr>
        <p:spPr>
          <a:xfrm>
            <a:off x="594360" y="85953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SENARYO 1 — BASELINE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444752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 veri, varsayılan hiperparametreler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Hold-out: %80 eğitim / %20 test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221284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5-Katlı Çapraz Doğrulama (CV=5)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40080" y="2596896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model paralel eğitildi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303580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Değerlendirme Metrikleri: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364992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621024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3877056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133088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F1-Score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CV-Mean (5-fold)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709160" y="841248"/>
            <a:ext cx="397764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7" name="Shape 15"/>
          <p:cNvSpPr/>
          <p:nvPr/>
        </p:nvSpPr>
        <p:spPr>
          <a:xfrm>
            <a:off x="4709160" y="841248"/>
            <a:ext cx="3977640" cy="4572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8" name="Text 16"/>
          <p:cNvSpPr/>
          <p:nvPr/>
        </p:nvSpPr>
        <p:spPr>
          <a:xfrm>
            <a:off x="4828032" y="859536"/>
            <a:ext cx="3749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SENARYO 2 — ADVANCED (PCA)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64608" y="1444752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boyut indirgeme (n_comp=0.95)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864608" y="1828800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özellik → 12 PCA bileşeni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864608" y="2212848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Hold-out + 5-Katlı CV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4864608" y="2596896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ile Stacking optimizasyonu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864608" y="3035808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ile Amaçlanan: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64608" y="3364992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Gürültüyü azaltmak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864608" y="3730752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Çoklu doğrusallığı gidermek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64608" y="4096512"/>
            <a:ext cx="37033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Modelin genellenebilirliğini artırmak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PCA Varyans Analizi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5029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pic>
        <p:nvPicPr>
          <p:cNvPr id="4" name="Image 0" descr="/home/claude/img_pca_varianc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914400"/>
            <a:ext cx="4846320" cy="36118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0" y="822960"/>
            <a:ext cx="31546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6" name="Shape 3"/>
          <p:cNvSpPr/>
          <p:nvPr/>
        </p:nvSpPr>
        <p:spPr>
          <a:xfrm>
            <a:off x="5669280" y="960120"/>
            <a:ext cx="54864" cy="868680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7" name="Text 4"/>
          <p:cNvSpPr/>
          <p:nvPr/>
        </p:nvSpPr>
        <p:spPr>
          <a:xfrm>
            <a:off x="5833872" y="91440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Bileşen Yeterli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833872" y="1280160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özelliğin tamamına yakını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%95 varyansı korumak için gerekti.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0" y="2130552"/>
            <a:ext cx="31546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0" name="Shape 7"/>
          <p:cNvSpPr/>
          <p:nvPr/>
        </p:nvSpPr>
        <p:spPr>
          <a:xfrm>
            <a:off x="5669280" y="2267712"/>
            <a:ext cx="54864" cy="86868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1" name="Text 8"/>
          <p:cNvSpPr/>
          <p:nvPr/>
        </p:nvSpPr>
        <p:spPr>
          <a:xfrm>
            <a:off x="5833872" y="222199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Yüksek Bilgi Yoğunluğu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833872" y="2587752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Özellikler birbirinden büyük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ölçüde bağımsız (düşük korelasyon).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669280" y="3438144"/>
            <a:ext cx="3154680" cy="11430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4" name="Shape 11"/>
          <p:cNvSpPr/>
          <p:nvPr/>
        </p:nvSpPr>
        <p:spPr>
          <a:xfrm>
            <a:off x="5669280" y="3575304"/>
            <a:ext cx="54864" cy="86868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5" name="Text 12"/>
          <p:cNvSpPr/>
          <p:nvPr/>
        </p:nvSpPr>
        <p:spPr>
          <a:xfrm>
            <a:off x="5833872" y="3529584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Gürültü Temizlendi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833872" y="3895344"/>
            <a:ext cx="2834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bileşen çıkarılarak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gürültü filtrelemesi sağlandı.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Senaryo 1: Baseline Sonuçları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1664924355"/>
              </p:ext>
            </p:extLst>
          </p:nvPr>
        </p:nvGraphicFramePr>
        <p:xfrm>
          <a:off x="457200" y="804672"/>
          <a:ext cx="3889717" cy="395020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4431323" y="749808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 Tablo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8365399"/>
              </p:ext>
            </p:extLst>
          </p:nvPr>
        </p:nvGraphicFramePr>
        <p:xfrm>
          <a:off x="4507992" y="1092708"/>
          <a:ext cx="4315968" cy="1539240"/>
        </p:xfrm>
        <a:graphic>
          <a:graphicData uri="http://schemas.openxmlformats.org/drawingml/2006/table">
            <a:tbl>
              <a:tblPr/>
              <a:tblGrid>
                <a:gridCol w="1226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7968">
                  <a:extLst>
                    <a:ext uri="{9D8B030D-6E8A-4147-A177-3AD203B41FA5}">
                      <a16:colId xmlns:a16="http://schemas.microsoft.com/office/drawing/2014/main" val="1822404921"/>
                    </a:ext>
                  </a:extLst>
                </a:gridCol>
                <a:gridCol w="592339">
                  <a:extLst>
                    <a:ext uri="{9D8B030D-6E8A-4147-A177-3AD203B41FA5}">
                      <a16:colId xmlns:a16="http://schemas.microsoft.com/office/drawing/2014/main" val="586309064"/>
                    </a:ext>
                  </a:extLst>
                </a:gridCol>
                <a:gridCol w="64359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E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E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E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1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E8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tr-TR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E8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r>
                        <a:rPr lang="tr-TR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4E8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%75.5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%75.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%75.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%80.6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AdaBoost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%86.8</a:t>
                      </a:r>
                      <a:endParaRPr lang="en-US" sz="1100" b="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%80.6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%84.8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%83.8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352757" y="3189497"/>
            <a:ext cx="3270738" cy="1722589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Text 3"/>
          <p:cNvSpPr/>
          <p:nvPr/>
        </p:nvSpPr>
        <p:spPr>
          <a:xfrm>
            <a:off x="6443003" y="2865120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C4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Temel Bulgu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5352757" y="3305907"/>
            <a:ext cx="3124786" cy="14489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 ham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üzerinde</a:t>
            </a:r>
            <a:r>
              <a:rPr lang="tr-TR" sz="1100" dirty="0"/>
              <a:t> 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%87.0 ile en iyi sonucu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ise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modeler</a:t>
            </a:r>
            <a:r>
              <a:rPr lang="tr-TR" sz="1100" dirty="0"/>
              <a:t>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arasında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düşük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performansı</a:t>
            </a:r>
            <a:r>
              <a:rPr lang="tr-TR" sz="1100" dirty="0"/>
              <a:t>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gösterdi</a:t>
            </a:r>
            <a:r>
              <a:rPr lang="tr-TR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(%75.9).</a:t>
            </a:r>
            <a:endParaRPr lang="tr-TR" sz="1100" dirty="0">
              <a:solidFill>
                <a:srgbClr val="1A2B3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tr-TR" sz="1100" dirty="0" err="1"/>
              <a:t>AdaBoost</a:t>
            </a:r>
            <a:r>
              <a:rPr lang="tr-TR" sz="1100" dirty="0"/>
              <a:t> test setinde (%87.0) en yüksek başarıyı verse de; </a:t>
            </a:r>
            <a:r>
              <a:rPr lang="tr-TR" sz="1100" dirty="0" err="1"/>
              <a:t>Accuracy</a:t>
            </a:r>
            <a:r>
              <a:rPr lang="tr-TR" sz="1100" dirty="0"/>
              <a:t> ve CV-</a:t>
            </a:r>
            <a:r>
              <a:rPr lang="tr-TR" sz="1100" dirty="0" err="1"/>
              <a:t>Mean</a:t>
            </a:r>
            <a:r>
              <a:rPr lang="tr-TR" sz="1100" dirty="0"/>
              <a:t> skorları birbirine en yakın olan </a:t>
            </a:r>
            <a:r>
              <a:rPr lang="tr-TR" sz="1100" dirty="0" err="1"/>
              <a:t>Stacking</a:t>
            </a:r>
            <a:r>
              <a:rPr lang="tr-TR" sz="1100" dirty="0"/>
              <a:t> modeli (%85.2 </a:t>
            </a:r>
            <a:r>
              <a:rPr lang="tr-TR" sz="1100" dirty="0" err="1"/>
              <a:t>vs</a:t>
            </a:r>
            <a:r>
              <a:rPr lang="tr-TR" sz="1100" dirty="0"/>
              <a:t> %83.8), aşırı öğrenmeden (</a:t>
            </a:r>
            <a:r>
              <a:rPr lang="tr-TR" sz="1100" dirty="0" err="1"/>
              <a:t>overfitting</a:t>
            </a:r>
            <a:r>
              <a:rPr lang="tr-TR" sz="1100" dirty="0"/>
              <a:t>) en uzak ve en istikrarlı model olarak öne çıkmaktadır.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Baseline — Karmaşıklık Matrisleri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8412480" cy="35204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pic>
        <p:nvPicPr>
          <p:cNvPr id="4" name="Image 0" descr="/home/claude/img_confusion_baselin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868680"/>
            <a:ext cx="8229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43484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RF: </a:t>
            </a:r>
            <a:r>
              <a:rPr lang="tr-TR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r>
              <a:rPr lang="en-US" sz="1100" b="1" dirty="0" err="1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anlış</a:t>
            </a: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en-US" sz="1100" b="1" dirty="0" err="1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egatif</a:t>
            </a: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</a:t>
            </a:r>
            <a:r>
              <a:rPr lang="tr-TR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tehlikeli hatayı en çok yapan model.</a:t>
            </a: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3436034" y="44348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AdaBoost: </a:t>
            </a:r>
            <a:r>
              <a:rPr lang="tr-TR" sz="11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r>
              <a:rPr lang="en-US" sz="11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FN, 2 FP — </a:t>
            </a:r>
            <a:r>
              <a:rPr lang="tr-TR" sz="11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Kritik hastaları kaçırma (FN) oranı en düşük model.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217920" y="444398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Stacking: </a:t>
            </a:r>
            <a:r>
              <a:rPr lang="tr-TR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FN, 2 FP — </a:t>
            </a:r>
            <a:r>
              <a:rPr lang="tr-TR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Kararlı model ancak FN oranı </a:t>
            </a:r>
            <a:r>
              <a:rPr lang="tr-TR" sz="1100" b="1" dirty="0" err="1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Adaboost’un</a:t>
            </a:r>
            <a:r>
              <a:rPr lang="tr-TR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gerisinde kaldı.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Senaryo 2: Advanced (PCA) Sonuçları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54220059"/>
              </p:ext>
            </p:extLst>
          </p:nvPr>
        </p:nvGraphicFramePr>
        <p:xfrm>
          <a:off x="457200" y="822960"/>
          <a:ext cx="420624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Text 1"/>
          <p:cNvSpPr/>
          <p:nvPr/>
        </p:nvSpPr>
        <p:spPr>
          <a:xfrm>
            <a:off x="4663440" y="763231"/>
            <a:ext cx="2880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Özet Tablo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2332464"/>
              </p:ext>
            </p:extLst>
          </p:nvPr>
        </p:nvGraphicFramePr>
        <p:xfrm>
          <a:off x="4751360" y="1141711"/>
          <a:ext cx="4206241" cy="1539240"/>
        </p:xfrm>
        <a:graphic>
          <a:graphicData uri="http://schemas.openxmlformats.org/drawingml/2006/table">
            <a:tbl>
              <a:tblPr/>
              <a:tblGrid>
                <a:gridCol w="1305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2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19224">
                  <a:extLst>
                    <a:ext uri="{9D8B030D-6E8A-4147-A177-3AD203B41FA5}">
                      <a16:colId xmlns:a16="http://schemas.microsoft.com/office/drawing/2014/main" val="3527945582"/>
                    </a:ext>
                  </a:extLst>
                </a:gridCol>
                <a:gridCol w="569496">
                  <a:extLst>
                    <a:ext uri="{9D8B030D-6E8A-4147-A177-3AD203B41FA5}">
                      <a16:colId xmlns:a16="http://schemas.microsoft.com/office/drawing/2014/main" val="2017264946"/>
                    </a:ext>
                  </a:extLst>
                </a:gridCol>
                <a:gridCol w="5908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1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tr-TR" sz="1100" b="1" dirty="0" err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</a:t>
                      </a:r>
                      <a:r>
                        <a:rPr lang="tr-TR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4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%88.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%81.5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%85.2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%84.8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.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%76.4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Stacking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%88.9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%88.8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%88.</a:t>
                      </a:r>
                      <a:r>
                        <a:rPr lang="tr-TR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marL="0" indent="0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F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2"/>
          <p:cNvSpPr/>
          <p:nvPr/>
        </p:nvSpPr>
        <p:spPr>
          <a:xfrm>
            <a:off x="5176908" y="3102806"/>
            <a:ext cx="3042142" cy="1819069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 dirty="0"/>
          </a:p>
        </p:txBody>
      </p:sp>
      <p:sp>
        <p:nvSpPr>
          <p:cNvPr id="7" name="Text 3"/>
          <p:cNvSpPr/>
          <p:nvPr/>
        </p:nvSpPr>
        <p:spPr>
          <a:xfrm>
            <a:off x="6137032" y="2755334"/>
            <a:ext cx="2606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Temel Bulgu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5176908" y="3007204"/>
            <a:ext cx="3042142" cy="201027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sonrası RF ve Stacking</a:t>
            </a:r>
            <a:endParaRPr lang="en-US" sz="1100" dirty="0"/>
          </a:p>
          <a:p>
            <a:r>
              <a:rPr lang="tr-TR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%88.9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ile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birinci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oldu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 ise PCA'dan olumsuz</a:t>
            </a:r>
            <a:endParaRPr lang="en-US" sz="1100" dirty="0"/>
          </a:p>
          <a:p>
            <a:r>
              <a:rPr lang="tr-TR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etkilenerek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%85.2'ye </a:t>
            </a:r>
            <a:r>
              <a:rPr lang="en-US" sz="1100" dirty="0" err="1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geriledi</a:t>
            </a:r>
            <a:r>
              <a:rPr lang="en-US" sz="110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tr-TR" sz="1100" dirty="0">
              <a:solidFill>
                <a:srgbClr val="1A2B3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tr-TR" sz="1100" dirty="0"/>
              <a:t>RF ve </a:t>
            </a:r>
            <a:r>
              <a:rPr lang="tr-TR" sz="1100" dirty="0" err="1"/>
              <a:t>Stacking</a:t>
            </a:r>
            <a:r>
              <a:rPr lang="tr-TR" sz="1100" dirty="0"/>
              <a:t> Test doğruluğunda %88.9berabere kalsa da; </a:t>
            </a:r>
            <a:r>
              <a:rPr lang="tr-TR" sz="1100" dirty="0" err="1"/>
              <a:t>Stacking'in</a:t>
            </a:r>
            <a:r>
              <a:rPr lang="tr-TR" sz="1100" dirty="0"/>
              <a:t> Çapraz Doğrulama (CV_M) skoru (%82.4) daha yüksek olduğu için, aşırı öğrenmeye karşı daha dirençli ve güvenilir olan asıl kazananın </a:t>
            </a:r>
            <a:r>
              <a:rPr lang="tr-TR" sz="1100" dirty="0" err="1"/>
              <a:t>Stacking</a:t>
            </a:r>
            <a:r>
              <a:rPr lang="tr-TR" sz="1100" dirty="0"/>
              <a:t> olduğunu gözlemleriz.</a:t>
            </a:r>
            <a:endParaRPr lang="tr-TR" sz="1100" dirty="0">
              <a:solidFill>
                <a:srgbClr val="1A2B3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Senaryo Karşılaştırması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8412480" cy="35661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pic>
        <p:nvPicPr>
          <p:cNvPr id="4" name="Image 0" descr="/home/claude/img_pca_success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57200" y="868680"/>
            <a:ext cx="8229600" cy="32918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49884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6" name="Text 3"/>
          <p:cNvSpPr/>
          <p:nvPr/>
        </p:nvSpPr>
        <p:spPr>
          <a:xfrm>
            <a:off x="548640" y="451713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 75.9% → 88.9%  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2377440" y="4517136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 pp ↑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310128" y="449884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Text 6"/>
          <p:cNvSpPr/>
          <p:nvPr/>
        </p:nvSpPr>
        <p:spPr>
          <a:xfrm>
            <a:off x="3401568" y="451713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  87.0% → 85.2%  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230368" y="4517136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74C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−1.8 pp ↓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163056" y="4498848"/>
            <a:ext cx="27432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2" name="Text 9"/>
          <p:cNvSpPr/>
          <p:nvPr/>
        </p:nvSpPr>
        <p:spPr>
          <a:xfrm>
            <a:off x="6254496" y="4517136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 85.2% → 88.9%  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083296" y="4517136"/>
            <a:ext cx="731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7AE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pp ↑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Özellik Önem Dereceleri (Baseline)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4206240" cy="40050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C4E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300" dirty="0"/>
          </a:p>
        </p:txBody>
      </p:sp>
      <p:pic>
        <p:nvPicPr>
          <p:cNvPr id="5" name="Image 0" descr="/home/claude/img_feat_rf_baseline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11480" y="1234440"/>
            <a:ext cx="4114800" cy="333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754880" y="804672"/>
            <a:ext cx="4069080" cy="4005072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7" name="Text 4"/>
          <p:cNvSpPr/>
          <p:nvPr/>
        </p:nvSpPr>
        <p:spPr>
          <a:xfrm>
            <a:off x="4892040" y="868680"/>
            <a:ext cx="3794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</a:t>
            </a:r>
            <a:endParaRPr lang="en-US" sz="1300" dirty="0"/>
          </a:p>
        </p:txBody>
      </p:sp>
      <p:pic>
        <p:nvPicPr>
          <p:cNvPr id="8" name="Image 1" descr="/home/claude/img_feat_ada_baseline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800600" y="1234440"/>
            <a:ext cx="3977640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Tartışma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42519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54864" cy="16459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05840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932688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 — PCA'dan En Çok Yararlanan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244639"/>
            <a:ext cx="3429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Ham verideki gürültü ve çoklu doğrusallık RF'i zorladı (%75.9). PCA bu sorunları gidererek doğruluğu %88.9'a taşıdı. En büyük nispi kazanım (+13 pp).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828032" y="822960"/>
            <a:ext cx="42519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9" name="Shape 6"/>
          <p:cNvSpPr/>
          <p:nvPr/>
        </p:nvSpPr>
        <p:spPr>
          <a:xfrm>
            <a:off x="4828032" y="960120"/>
            <a:ext cx="54864" cy="1645920"/>
          </a:xfrm>
          <a:prstGeom prst="rect">
            <a:avLst/>
          </a:prstGeom>
          <a:solidFill>
            <a:srgbClr val="E67E22"/>
          </a:solidFill>
          <a:ln w="12700">
            <a:solidFill>
              <a:srgbClr val="E67E22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005840"/>
            <a:ext cx="347472" cy="34747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486400" y="932688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 — PCA'dan Olumsuz Etkilenen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5486400" y="1177817"/>
            <a:ext cx="3429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2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 mekanizması gürültüyü kendi başına yönetebiliyor. PCA bazı ince örüntüleri dönüştürerek performansı %87.0'dan %85.2'ye düşürdü.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365760" y="2907792"/>
            <a:ext cx="42519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4" name="Shape 10"/>
          <p:cNvSpPr/>
          <p:nvPr/>
        </p:nvSpPr>
        <p:spPr>
          <a:xfrm>
            <a:off x="365760" y="3044952"/>
            <a:ext cx="54864" cy="1645920"/>
          </a:xfrm>
          <a:prstGeom prst="rect">
            <a:avLst/>
          </a:prstGeom>
          <a:solidFill>
            <a:srgbClr val="1C4E80"/>
          </a:solidFill>
          <a:ln w="1270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3090672"/>
            <a:ext cx="347472" cy="34747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024128" y="301752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 — En Kararlı Model</a:t>
            </a:r>
            <a:endParaRPr lang="en-US" sz="1200" dirty="0"/>
          </a:p>
        </p:txBody>
      </p:sp>
      <p:sp>
        <p:nvSpPr>
          <p:cNvPr id="17" name="Text 12"/>
          <p:cNvSpPr/>
          <p:nvPr/>
        </p:nvSpPr>
        <p:spPr>
          <a:xfrm>
            <a:off x="1024128" y="3333340"/>
            <a:ext cx="3429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tr-TR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Her iki senaryoda da tutarlı yüksek performans. Meta-öğrenici (</a:t>
            </a:r>
            <a:r>
              <a:rPr lang="tr-TR" sz="10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LogReg</a:t>
            </a:r>
            <a:r>
              <a:rPr lang="tr-TR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), alt modellerin (RF, SVC, Ada) zayıf yönlerini dengeleyerek en düşük varyanslı tahmini üretti. </a:t>
            </a:r>
            <a:r>
              <a:rPr lang="tr-TR" sz="1050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GridSearchCV</a:t>
            </a:r>
            <a:r>
              <a:rPr lang="tr-TR" sz="105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optimizasyonu ek kazanım sağladı.</a:t>
            </a:r>
            <a:endParaRPr lang="en-US" sz="105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Shape 13"/>
          <p:cNvSpPr/>
          <p:nvPr/>
        </p:nvSpPr>
        <p:spPr>
          <a:xfrm>
            <a:off x="4828032" y="2907792"/>
            <a:ext cx="425196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CF5"/>
            </a:solidFill>
            <a:prstDash val="solid"/>
          </a:ln>
          <a:effectLst>
            <a:outerShdw blurRad="1016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tr-TR"/>
          </a:p>
        </p:txBody>
      </p:sp>
      <p:sp>
        <p:nvSpPr>
          <p:cNvPr id="19" name="Shape 14"/>
          <p:cNvSpPr/>
          <p:nvPr/>
        </p:nvSpPr>
        <p:spPr>
          <a:xfrm>
            <a:off x="4828032" y="3044952"/>
            <a:ext cx="54864" cy="16459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3090672"/>
            <a:ext cx="347472" cy="34747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86400" y="3017520"/>
            <a:ext cx="3429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Klinik Anlamlılık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5376672" y="3353035"/>
            <a:ext cx="342900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tr-TR" sz="1050" dirty="0"/>
              <a:t>ST depresyonu, Göğüs Ağrısı Tipi ve Kolesterol gibi tıp literatürüyle birebir örtüşen özelliklerin modeller tarafından en kritik faktörler olarak belirlenmesi, algoritmaların ezber yapmadığını ve gerçek biyolojik ilişkileri öğrendiğini gösteriyor.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SONUÇ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960120"/>
            <a:ext cx="8321040" cy="685800"/>
          </a:xfrm>
          <a:prstGeom prst="rect">
            <a:avLst/>
          </a:prstGeom>
          <a:solidFill>
            <a:srgbClr val="0E2D4F"/>
          </a:solidFill>
          <a:ln w="635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078992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005840"/>
            <a:ext cx="7452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sonrası Random Forest ve Stacking %88.9 ile en yüksek doğruluğa ulaştı.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1764792"/>
            <a:ext cx="8321040" cy="685800"/>
          </a:xfrm>
          <a:prstGeom prst="rect">
            <a:avLst/>
          </a:prstGeom>
          <a:solidFill>
            <a:srgbClr val="0A2342"/>
          </a:solidFill>
          <a:ln w="635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88366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1810512"/>
            <a:ext cx="7452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 ham veride birinci (%87.0), PCA sonrası gerilemesi en belirgin model oldu.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569464"/>
            <a:ext cx="8321040" cy="685800"/>
          </a:xfrm>
          <a:prstGeom prst="rect">
            <a:avLst/>
          </a:prstGeom>
          <a:solidFill>
            <a:srgbClr val="0E2D4F"/>
          </a:solidFill>
          <a:ln w="635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" y="2688336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234440" y="2615184"/>
            <a:ext cx="7452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Stacking, her iki senaryoda tutarlı performans göstererek en kararlı yöntem oldu.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374136"/>
            <a:ext cx="8321040" cy="685800"/>
          </a:xfrm>
          <a:prstGeom prst="rect">
            <a:avLst/>
          </a:prstGeom>
          <a:solidFill>
            <a:srgbClr val="0A2342"/>
          </a:solidFill>
          <a:ln w="635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493008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234440" y="3419856"/>
            <a:ext cx="7452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tr-TR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olarak </a:t>
            </a:r>
            <a:r>
              <a:rPr lang="en-US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CV-Mean değerleri Hold-out'a yakın — Modeller overfitting sergilemedi.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548640" y="4178808"/>
            <a:ext cx="8321040" cy="685800"/>
          </a:xfrm>
          <a:prstGeom prst="rect">
            <a:avLst/>
          </a:prstGeom>
          <a:solidFill>
            <a:srgbClr val="0E2D4F"/>
          </a:solidFill>
          <a:ln w="6350">
            <a:solidFill>
              <a:srgbClr val="1C4E80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3232" y="4297680"/>
            <a:ext cx="347472" cy="34747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34440" y="4224528"/>
            <a:ext cx="7452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 </a:t>
            </a:r>
            <a:r>
              <a:rPr lang="en-US" sz="1300" dirty="0" err="1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depresyonu</a:t>
            </a:r>
            <a:r>
              <a:rPr lang="en-US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 iki modelde de kritik bir bulgu olurken; </a:t>
            </a:r>
            <a:r>
              <a:rPr lang="tr-TR" sz="1300" dirty="0" err="1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</a:t>
            </a:r>
            <a:r>
              <a:rPr lang="tr-TR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tr-TR" sz="1300" dirty="0" err="1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Forest</a:t>
            </a:r>
            <a:r>
              <a:rPr lang="tr-TR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göğüs ağrısına, </a:t>
            </a:r>
            <a:r>
              <a:rPr lang="tr-TR" sz="1300" dirty="0" err="1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AdaBoost</a:t>
            </a:r>
            <a:r>
              <a:rPr lang="tr-TR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ise </a:t>
            </a:r>
            <a:r>
              <a:rPr lang="tr-TR" sz="1300" dirty="0" err="1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kolestrol</a:t>
            </a:r>
            <a:r>
              <a:rPr lang="tr-TR" sz="13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seviyesine odaklanarak farklı klinik örüntüleri yakaladığı görülmüştür.</a:t>
            </a:r>
            <a:endParaRPr lang="en-US" sz="1300" dirty="0"/>
          </a:p>
        </p:txBody>
      </p:sp>
      <p:sp>
        <p:nvSpPr>
          <p:cNvPr id="19" name="Text 12"/>
          <p:cNvSpPr/>
          <p:nvPr/>
        </p:nvSpPr>
        <p:spPr>
          <a:xfrm>
            <a:off x="457200" y="486460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Şeyda Aytemür · Tekirdağ Namık Kemal Üniversitesi · Çorlu Mühendislik Fakültesi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12015C-59C0-3CB7-F25C-823A3C669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DB07F76-1AD5-ACD1-878A-5B7C27157902}"/>
              </a:ext>
            </a:extLst>
          </p:cNvPr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9CACCBC6-5B98-8808-F602-C37740C56627}"/>
              </a:ext>
            </a:extLst>
          </p:cNvPr>
          <p:cNvSpPr/>
          <p:nvPr/>
        </p:nvSpPr>
        <p:spPr>
          <a:xfrm>
            <a:off x="457200" y="486460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Şeyda Aytemür · Tekirdağ Namık Kemal Üniversitesi · Çorlu Mühendislik Fakültesi</a:t>
            </a:r>
            <a:endParaRPr lang="en-US" sz="1000" dirty="0"/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D70D2BA9-4089-41D0-4911-91D6A214BD5D}"/>
              </a:ext>
            </a:extLst>
          </p:cNvPr>
          <p:cNvSpPr/>
          <p:nvPr/>
        </p:nvSpPr>
        <p:spPr>
          <a:xfrm>
            <a:off x="601394" y="295422"/>
            <a:ext cx="7452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tr-TR" sz="24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KAYNAKÇA</a:t>
            </a:r>
            <a:endParaRPr lang="tr-TR" sz="2400" dirty="0">
              <a:solidFill>
                <a:srgbClr val="D0E8F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7" name="Text 7">
            <a:extLst>
              <a:ext uri="{FF2B5EF4-FFF2-40B4-BE49-F238E27FC236}">
                <a16:creationId xmlns:a16="http://schemas.microsoft.com/office/drawing/2014/main" id="{126C156F-8B5C-AC78-8DD6-9043B420498F}"/>
              </a:ext>
            </a:extLst>
          </p:cNvPr>
          <p:cNvSpPr/>
          <p:nvPr/>
        </p:nvSpPr>
        <p:spPr>
          <a:xfrm>
            <a:off x="654148" y="2440745"/>
            <a:ext cx="8201464" cy="4979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tr-TR" sz="1200" b="1" dirty="0">
                <a:solidFill>
                  <a:schemeClr val="bg2"/>
                </a:solidFill>
              </a:rPr>
              <a:t>Veri Seti:</a:t>
            </a:r>
            <a:endParaRPr lang="tr-TR" sz="1200" dirty="0">
              <a:solidFill>
                <a:schemeClr val="bg2"/>
              </a:solidFill>
            </a:endParaRPr>
          </a:p>
          <a:p>
            <a:endParaRPr lang="tr-TR" sz="1400" dirty="0">
              <a:solidFill>
                <a:schemeClr val="bg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tr-TR" sz="1200" dirty="0">
                <a:solidFill>
                  <a:schemeClr val="bg2"/>
                </a:solidFill>
              </a:rPr>
              <a:t>Damarla, R. </a:t>
            </a:r>
            <a:r>
              <a:rPr lang="tr-TR" sz="1200" i="1" dirty="0" err="1">
                <a:solidFill>
                  <a:schemeClr val="bg2"/>
                </a:solidFill>
              </a:rPr>
              <a:t>Heart</a:t>
            </a:r>
            <a:r>
              <a:rPr lang="tr-TR" sz="1200" i="1" dirty="0">
                <a:solidFill>
                  <a:schemeClr val="bg2"/>
                </a:solidFill>
              </a:rPr>
              <a:t> </a:t>
            </a:r>
            <a:r>
              <a:rPr lang="tr-TR" sz="1200" i="1" dirty="0" err="1">
                <a:solidFill>
                  <a:schemeClr val="bg2"/>
                </a:solidFill>
              </a:rPr>
              <a:t>Disease</a:t>
            </a:r>
            <a:r>
              <a:rPr lang="tr-TR" sz="1200" i="1" dirty="0">
                <a:solidFill>
                  <a:schemeClr val="bg2"/>
                </a:solidFill>
              </a:rPr>
              <a:t> </a:t>
            </a:r>
            <a:r>
              <a:rPr lang="tr-TR" sz="1200" i="1" dirty="0" err="1">
                <a:solidFill>
                  <a:schemeClr val="bg2"/>
                </a:solidFill>
              </a:rPr>
              <a:t>Prediction</a:t>
            </a:r>
            <a:r>
              <a:rPr lang="tr-TR" sz="1200" i="1" dirty="0">
                <a:solidFill>
                  <a:schemeClr val="bg2"/>
                </a:solidFill>
              </a:rPr>
              <a:t> </a:t>
            </a:r>
            <a:r>
              <a:rPr lang="tr-TR" sz="1200" i="1" dirty="0" err="1">
                <a:solidFill>
                  <a:schemeClr val="bg2"/>
                </a:solidFill>
              </a:rPr>
              <a:t>Dataset</a:t>
            </a:r>
            <a:r>
              <a:rPr lang="tr-TR" sz="1200" dirty="0">
                <a:solidFill>
                  <a:schemeClr val="bg2"/>
                </a:solidFill>
              </a:rPr>
              <a:t>. </a:t>
            </a:r>
            <a:r>
              <a:rPr lang="tr-TR" sz="1200" dirty="0" err="1">
                <a:solidFill>
                  <a:schemeClr val="bg2"/>
                </a:solidFill>
              </a:rPr>
              <a:t>Kaggle</a:t>
            </a:r>
            <a:r>
              <a:rPr lang="tr-TR" sz="1200" dirty="0">
                <a:solidFill>
                  <a:schemeClr val="bg2"/>
                </a:solidFill>
              </a:rPr>
              <a:t>. Erişim adresi: </a:t>
            </a:r>
            <a:r>
              <a:rPr lang="tr-TR" sz="1200" dirty="0">
                <a:solidFill>
                  <a:schemeClr val="bg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https://www.kaggle.com/datasets/rishidamarla/heart-disease-prediction</a:t>
            </a:r>
            <a:endParaRPr lang="tr-TR" sz="1200" dirty="0">
              <a:solidFill>
                <a:schemeClr val="bg2"/>
              </a:solidFill>
            </a:endParaRPr>
          </a:p>
          <a:p>
            <a:endParaRPr lang="tr-TR" sz="1200" dirty="0">
              <a:solidFill>
                <a:schemeClr val="bg2"/>
              </a:solidFill>
            </a:endParaRPr>
          </a:p>
          <a:p>
            <a:r>
              <a:rPr lang="tr-TR" sz="1200" b="1" dirty="0">
                <a:solidFill>
                  <a:schemeClr val="bg2"/>
                </a:solidFill>
              </a:rPr>
              <a:t>Makine Öğrenmesi &amp; Algoritmalar (Teorik Altyapı):</a:t>
            </a:r>
          </a:p>
          <a:p>
            <a:endParaRPr lang="tr-TR" sz="1200" dirty="0">
              <a:solidFill>
                <a:schemeClr val="bg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tr-TR" sz="1200" dirty="0" err="1">
                <a:solidFill>
                  <a:schemeClr val="bg2"/>
                </a:solidFill>
              </a:rPr>
              <a:t>Breiman</a:t>
            </a:r>
            <a:r>
              <a:rPr lang="tr-TR" sz="1200" dirty="0">
                <a:solidFill>
                  <a:schemeClr val="bg2"/>
                </a:solidFill>
              </a:rPr>
              <a:t>, L. (2001). </a:t>
            </a:r>
            <a:r>
              <a:rPr lang="tr-TR" sz="1200" dirty="0" err="1">
                <a:solidFill>
                  <a:schemeClr val="bg2"/>
                </a:solidFill>
              </a:rPr>
              <a:t>Random</a:t>
            </a:r>
            <a:r>
              <a:rPr lang="tr-TR" sz="1200" dirty="0">
                <a:solidFill>
                  <a:schemeClr val="bg2"/>
                </a:solidFill>
              </a:rPr>
              <a:t> </a:t>
            </a:r>
            <a:r>
              <a:rPr lang="tr-TR" sz="1200" dirty="0" err="1">
                <a:solidFill>
                  <a:schemeClr val="bg2"/>
                </a:solidFill>
              </a:rPr>
              <a:t>Forests</a:t>
            </a:r>
            <a:r>
              <a:rPr lang="tr-TR" sz="1200" dirty="0">
                <a:solidFill>
                  <a:schemeClr val="bg2"/>
                </a:solidFill>
              </a:rPr>
              <a:t>. </a:t>
            </a:r>
            <a:r>
              <a:rPr lang="tr-TR" sz="1200" i="1" dirty="0">
                <a:solidFill>
                  <a:schemeClr val="bg2"/>
                </a:solidFill>
              </a:rPr>
              <a:t>Machine Learning</a:t>
            </a:r>
            <a:r>
              <a:rPr lang="tr-TR" sz="1200" dirty="0">
                <a:solidFill>
                  <a:schemeClr val="bg2"/>
                </a:solidFill>
              </a:rPr>
              <a:t>, 45(1), 5-32.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tr-TR" sz="1200" dirty="0" err="1">
                <a:solidFill>
                  <a:schemeClr val="bg2"/>
                </a:solidFill>
              </a:rPr>
              <a:t>Freund</a:t>
            </a:r>
            <a:r>
              <a:rPr lang="tr-TR" sz="1200" dirty="0">
                <a:solidFill>
                  <a:schemeClr val="bg2"/>
                </a:solidFill>
              </a:rPr>
              <a:t>, Y., &amp; </a:t>
            </a:r>
            <a:r>
              <a:rPr lang="tr-TR" sz="1200" dirty="0" err="1">
                <a:solidFill>
                  <a:schemeClr val="bg2"/>
                </a:solidFill>
              </a:rPr>
              <a:t>Schapire</a:t>
            </a:r>
            <a:r>
              <a:rPr lang="tr-TR" sz="1200" dirty="0">
                <a:solidFill>
                  <a:schemeClr val="bg2"/>
                </a:solidFill>
              </a:rPr>
              <a:t>, R. E. (1997). A </a:t>
            </a:r>
            <a:r>
              <a:rPr lang="tr-TR" sz="1200" dirty="0" err="1">
                <a:solidFill>
                  <a:schemeClr val="bg2"/>
                </a:solidFill>
              </a:rPr>
              <a:t>decision-theoretic</a:t>
            </a:r>
            <a:r>
              <a:rPr lang="tr-TR" sz="1200" dirty="0">
                <a:solidFill>
                  <a:schemeClr val="bg2"/>
                </a:solidFill>
              </a:rPr>
              <a:t> </a:t>
            </a:r>
            <a:r>
              <a:rPr lang="tr-TR" sz="1200" dirty="0" err="1">
                <a:solidFill>
                  <a:schemeClr val="bg2"/>
                </a:solidFill>
              </a:rPr>
              <a:t>generalization</a:t>
            </a:r>
            <a:r>
              <a:rPr lang="tr-TR" sz="1200" dirty="0">
                <a:solidFill>
                  <a:schemeClr val="bg2"/>
                </a:solidFill>
              </a:rPr>
              <a:t> of on-</a:t>
            </a:r>
            <a:r>
              <a:rPr lang="tr-TR" sz="1200" dirty="0" err="1">
                <a:solidFill>
                  <a:schemeClr val="bg2"/>
                </a:solidFill>
              </a:rPr>
              <a:t>line</a:t>
            </a:r>
            <a:r>
              <a:rPr lang="tr-TR" sz="1200" dirty="0">
                <a:solidFill>
                  <a:schemeClr val="bg2"/>
                </a:solidFill>
              </a:rPr>
              <a:t> </a:t>
            </a:r>
            <a:r>
              <a:rPr lang="tr-TR" sz="1200" dirty="0" err="1">
                <a:solidFill>
                  <a:schemeClr val="bg2"/>
                </a:solidFill>
              </a:rPr>
              <a:t>learning</a:t>
            </a:r>
            <a:r>
              <a:rPr lang="tr-TR" sz="1200" dirty="0">
                <a:solidFill>
                  <a:schemeClr val="bg2"/>
                </a:solidFill>
              </a:rPr>
              <a:t> </a:t>
            </a:r>
            <a:r>
              <a:rPr lang="tr-TR" sz="1200" dirty="0" err="1">
                <a:solidFill>
                  <a:schemeClr val="bg2"/>
                </a:solidFill>
              </a:rPr>
              <a:t>and</a:t>
            </a:r>
            <a:r>
              <a:rPr lang="tr-TR" sz="1200" dirty="0">
                <a:solidFill>
                  <a:schemeClr val="bg2"/>
                </a:solidFill>
              </a:rPr>
              <a:t> an </a:t>
            </a:r>
            <a:r>
              <a:rPr lang="tr-TR" sz="1200" dirty="0" err="1">
                <a:solidFill>
                  <a:schemeClr val="bg2"/>
                </a:solidFill>
              </a:rPr>
              <a:t>application</a:t>
            </a:r>
            <a:r>
              <a:rPr lang="tr-TR" sz="1200" dirty="0">
                <a:solidFill>
                  <a:schemeClr val="bg2"/>
                </a:solidFill>
              </a:rPr>
              <a:t> </a:t>
            </a:r>
            <a:r>
              <a:rPr lang="tr-TR" sz="1200" dirty="0" err="1">
                <a:solidFill>
                  <a:schemeClr val="bg2"/>
                </a:solidFill>
              </a:rPr>
              <a:t>to</a:t>
            </a:r>
            <a:r>
              <a:rPr lang="tr-TR" sz="1200" dirty="0">
                <a:solidFill>
                  <a:schemeClr val="bg2"/>
                </a:solidFill>
              </a:rPr>
              <a:t> </a:t>
            </a:r>
            <a:r>
              <a:rPr lang="tr-TR" sz="1200" dirty="0" err="1">
                <a:solidFill>
                  <a:schemeClr val="bg2"/>
                </a:solidFill>
              </a:rPr>
              <a:t>boosting</a:t>
            </a:r>
            <a:r>
              <a:rPr lang="tr-TR" sz="1200" dirty="0">
                <a:solidFill>
                  <a:schemeClr val="bg2"/>
                </a:solidFill>
              </a:rPr>
              <a:t>. </a:t>
            </a:r>
            <a:r>
              <a:rPr lang="tr-TR" sz="1200" i="1" dirty="0" err="1">
                <a:solidFill>
                  <a:schemeClr val="bg2"/>
                </a:solidFill>
              </a:rPr>
              <a:t>Journal</a:t>
            </a:r>
            <a:r>
              <a:rPr lang="tr-TR" sz="1200" i="1" dirty="0">
                <a:solidFill>
                  <a:schemeClr val="bg2"/>
                </a:solidFill>
              </a:rPr>
              <a:t> of </a:t>
            </a:r>
            <a:r>
              <a:rPr lang="tr-TR" sz="1200" i="1" dirty="0" err="1">
                <a:solidFill>
                  <a:schemeClr val="bg2"/>
                </a:solidFill>
              </a:rPr>
              <a:t>Computer</a:t>
            </a:r>
            <a:r>
              <a:rPr lang="tr-TR" sz="1200" i="1" dirty="0">
                <a:solidFill>
                  <a:schemeClr val="bg2"/>
                </a:solidFill>
              </a:rPr>
              <a:t> </a:t>
            </a:r>
            <a:r>
              <a:rPr lang="tr-TR" sz="1200" i="1" dirty="0" err="1">
                <a:solidFill>
                  <a:schemeClr val="bg2"/>
                </a:solidFill>
              </a:rPr>
              <a:t>and</a:t>
            </a:r>
            <a:r>
              <a:rPr lang="tr-TR" sz="1200" i="1" dirty="0">
                <a:solidFill>
                  <a:schemeClr val="bg2"/>
                </a:solidFill>
              </a:rPr>
              <a:t> </a:t>
            </a:r>
            <a:r>
              <a:rPr lang="tr-TR" sz="1200" i="1" dirty="0" err="1">
                <a:solidFill>
                  <a:schemeClr val="bg2"/>
                </a:solidFill>
              </a:rPr>
              <a:t>System</a:t>
            </a:r>
            <a:r>
              <a:rPr lang="tr-TR" sz="1200" i="1" dirty="0">
                <a:solidFill>
                  <a:schemeClr val="bg2"/>
                </a:solidFill>
              </a:rPr>
              <a:t> </a:t>
            </a:r>
            <a:r>
              <a:rPr lang="tr-TR" sz="1200" i="1" dirty="0" err="1">
                <a:solidFill>
                  <a:schemeClr val="bg2"/>
                </a:solidFill>
              </a:rPr>
              <a:t>Sciences</a:t>
            </a:r>
            <a:r>
              <a:rPr lang="tr-TR" sz="1200" dirty="0">
                <a:solidFill>
                  <a:schemeClr val="bg2"/>
                </a:solidFill>
              </a:rPr>
              <a:t>, 55(1), 119-139. 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tr-TR" sz="1200" dirty="0" err="1">
                <a:solidFill>
                  <a:schemeClr val="bg2"/>
                </a:solidFill>
              </a:rPr>
              <a:t>Wolpert</a:t>
            </a:r>
            <a:r>
              <a:rPr lang="tr-TR" sz="1200" dirty="0">
                <a:solidFill>
                  <a:schemeClr val="bg2"/>
                </a:solidFill>
              </a:rPr>
              <a:t>, D. H. (1992). </a:t>
            </a:r>
            <a:r>
              <a:rPr lang="tr-TR" sz="1200" dirty="0" err="1">
                <a:solidFill>
                  <a:schemeClr val="bg2"/>
                </a:solidFill>
              </a:rPr>
              <a:t>Stacked</a:t>
            </a:r>
            <a:r>
              <a:rPr lang="tr-TR" sz="1200" dirty="0">
                <a:solidFill>
                  <a:schemeClr val="bg2"/>
                </a:solidFill>
              </a:rPr>
              <a:t> </a:t>
            </a:r>
            <a:r>
              <a:rPr lang="tr-TR" sz="1200" dirty="0" err="1">
                <a:solidFill>
                  <a:schemeClr val="bg2"/>
                </a:solidFill>
              </a:rPr>
              <a:t>generalization</a:t>
            </a:r>
            <a:r>
              <a:rPr lang="tr-TR" sz="1200" dirty="0">
                <a:solidFill>
                  <a:schemeClr val="bg2"/>
                </a:solidFill>
              </a:rPr>
              <a:t>. </a:t>
            </a:r>
            <a:r>
              <a:rPr lang="tr-TR" sz="1200" i="1" dirty="0" err="1">
                <a:solidFill>
                  <a:schemeClr val="bg2"/>
                </a:solidFill>
              </a:rPr>
              <a:t>Neural</a:t>
            </a:r>
            <a:r>
              <a:rPr lang="tr-TR" sz="1200" i="1" dirty="0">
                <a:solidFill>
                  <a:schemeClr val="bg2"/>
                </a:solidFill>
              </a:rPr>
              <a:t> Networks</a:t>
            </a:r>
            <a:r>
              <a:rPr lang="tr-TR" sz="1200" dirty="0">
                <a:solidFill>
                  <a:schemeClr val="bg2"/>
                </a:solidFill>
              </a:rPr>
              <a:t>, 5(2), 241-259. </a:t>
            </a:r>
            <a:r>
              <a:rPr lang="tr-TR" sz="1200" i="1" dirty="0">
                <a:solidFill>
                  <a:schemeClr val="bg2"/>
                </a:solidFill>
              </a:rPr>
              <a:t>(</a:t>
            </a:r>
            <a:r>
              <a:rPr lang="tr-TR" sz="1200" i="1" dirty="0" err="1">
                <a:solidFill>
                  <a:schemeClr val="bg2"/>
                </a:solidFill>
              </a:rPr>
              <a:t>Stacking</a:t>
            </a:r>
            <a:r>
              <a:rPr lang="tr-TR" sz="1200" i="1" dirty="0">
                <a:solidFill>
                  <a:schemeClr val="bg2"/>
                </a:solidFill>
              </a:rPr>
              <a:t> yönteminin orijinal makalesi)</a:t>
            </a:r>
            <a:endParaRPr lang="tr-TR" sz="1200" dirty="0">
              <a:solidFill>
                <a:schemeClr val="bg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tr-TR" sz="1200" dirty="0" err="1">
                <a:solidFill>
                  <a:schemeClr val="bg2"/>
                </a:solidFill>
              </a:rPr>
              <a:t>Jolliffe</a:t>
            </a:r>
            <a:r>
              <a:rPr lang="tr-TR" sz="1200" dirty="0">
                <a:solidFill>
                  <a:schemeClr val="bg2"/>
                </a:solidFill>
              </a:rPr>
              <a:t>, I. T. (2002). </a:t>
            </a:r>
            <a:r>
              <a:rPr lang="tr-TR" sz="1200" i="1" dirty="0" err="1">
                <a:solidFill>
                  <a:schemeClr val="bg2"/>
                </a:solidFill>
              </a:rPr>
              <a:t>Principal</a:t>
            </a:r>
            <a:r>
              <a:rPr lang="tr-TR" sz="1200" i="1" dirty="0">
                <a:solidFill>
                  <a:schemeClr val="bg2"/>
                </a:solidFill>
              </a:rPr>
              <a:t> Component Analysis</a:t>
            </a:r>
            <a:r>
              <a:rPr lang="tr-TR" sz="1200" dirty="0">
                <a:solidFill>
                  <a:schemeClr val="bg2"/>
                </a:solidFill>
              </a:rPr>
              <a:t> (2nd ed.). </a:t>
            </a:r>
            <a:r>
              <a:rPr lang="tr-TR" sz="1200" dirty="0" err="1">
                <a:solidFill>
                  <a:schemeClr val="bg2"/>
                </a:solidFill>
              </a:rPr>
              <a:t>Springer</a:t>
            </a:r>
            <a:r>
              <a:rPr lang="tr-TR" sz="1200" dirty="0">
                <a:solidFill>
                  <a:schemeClr val="bg2"/>
                </a:solidFill>
              </a:rPr>
              <a:t>. </a:t>
            </a:r>
            <a:endParaRPr lang="tr-TR" sz="1200" i="1" dirty="0">
              <a:solidFill>
                <a:schemeClr val="bg2"/>
              </a:solidFill>
            </a:endParaRPr>
          </a:p>
          <a:p>
            <a:endParaRPr lang="tr-TR" sz="1200" dirty="0">
              <a:solidFill>
                <a:schemeClr val="bg2"/>
              </a:solidFill>
            </a:endParaRPr>
          </a:p>
          <a:p>
            <a:r>
              <a:rPr lang="tr-TR" sz="1200" b="1" dirty="0">
                <a:solidFill>
                  <a:schemeClr val="bg2"/>
                </a:solidFill>
              </a:rPr>
              <a:t>Yazılım ve Kütüphaneler:</a:t>
            </a:r>
          </a:p>
          <a:p>
            <a:endParaRPr lang="tr-TR" sz="1200" dirty="0">
              <a:solidFill>
                <a:schemeClr val="bg2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tr-TR" sz="1200" dirty="0" err="1">
                <a:solidFill>
                  <a:schemeClr val="bg2"/>
                </a:solidFill>
              </a:rPr>
              <a:t>Pedregosa</a:t>
            </a:r>
            <a:r>
              <a:rPr lang="tr-TR" sz="1200" dirty="0">
                <a:solidFill>
                  <a:schemeClr val="bg2"/>
                </a:solidFill>
              </a:rPr>
              <a:t>, F. et al. (2011). </a:t>
            </a:r>
            <a:r>
              <a:rPr lang="tr-TR" sz="1200" dirty="0" err="1">
                <a:solidFill>
                  <a:schemeClr val="bg2"/>
                </a:solidFill>
              </a:rPr>
              <a:t>Scikit-learn</a:t>
            </a:r>
            <a:r>
              <a:rPr lang="tr-TR" sz="1200" dirty="0">
                <a:solidFill>
                  <a:schemeClr val="bg2"/>
                </a:solidFill>
              </a:rPr>
              <a:t>: Machine Learning in Python. </a:t>
            </a:r>
            <a:r>
              <a:rPr lang="tr-TR" sz="1200" i="1" dirty="0" err="1">
                <a:solidFill>
                  <a:schemeClr val="bg2"/>
                </a:solidFill>
              </a:rPr>
              <a:t>Journal</a:t>
            </a:r>
            <a:r>
              <a:rPr lang="tr-TR" sz="1200" i="1" dirty="0">
                <a:solidFill>
                  <a:schemeClr val="bg2"/>
                </a:solidFill>
              </a:rPr>
              <a:t> of Machine Learning </a:t>
            </a:r>
            <a:r>
              <a:rPr lang="tr-TR" sz="1200" i="1" dirty="0" err="1">
                <a:solidFill>
                  <a:schemeClr val="bg2"/>
                </a:solidFill>
              </a:rPr>
              <a:t>Research</a:t>
            </a:r>
            <a:r>
              <a:rPr lang="tr-TR" sz="1200" dirty="0">
                <a:solidFill>
                  <a:schemeClr val="bg2"/>
                </a:solidFill>
              </a:rPr>
              <a:t>, 12, 2825 2830. </a:t>
            </a:r>
          </a:p>
        </p:txBody>
      </p:sp>
    </p:spTree>
    <p:extLst>
      <p:ext uri="{BB962C8B-B14F-4D97-AF65-F5344CB8AC3E}">
        <p14:creationId xmlns:p14="http://schemas.microsoft.com/office/powerpoint/2010/main" val="36638245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234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11CD92-BB57-8FB0-07F1-44DBA36CD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1E3D9C5-76E6-BBA3-F1E3-67EF99E76619}"/>
              </a:ext>
            </a:extLst>
          </p:cNvPr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tr-TR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53EA1B42-8C65-E4B1-8795-5DA2E755D40E}"/>
              </a:ext>
            </a:extLst>
          </p:cNvPr>
          <p:cNvSpPr/>
          <p:nvPr/>
        </p:nvSpPr>
        <p:spPr>
          <a:xfrm>
            <a:off x="974187" y="2141102"/>
            <a:ext cx="7452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tr-TR" sz="40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BENİ DİNLEDİĞİNİZ İÇİN </a:t>
            </a:r>
          </a:p>
          <a:p>
            <a:pPr marL="0" indent="0" algn="ctr">
              <a:buNone/>
            </a:pPr>
            <a:r>
              <a:rPr lang="tr-TR" sz="4000" dirty="0">
                <a:solidFill>
                  <a:srgbClr val="D0E8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TEŞEKKÜR EDERİM.</a:t>
            </a:r>
            <a:endParaRPr lang="en-US" sz="4000" dirty="0"/>
          </a:p>
        </p:txBody>
      </p:sp>
      <p:sp>
        <p:nvSpPr>
          <p:cNvPr id="19" name="Text 12">
            <a:extLst>
              <a:ext uri="{FF2B5EF4-FFF2-40B4-BE49-F238E27FC236}">
                <a16:creationId xmlns:a16="http://schemas.microsoft.com/office/drawing/2014/main" id="{9A4240F1-164A-AA4D-A935-C13A3D7B45FA}"/>
              </a:ext>
            </a:extLst>
          </p:cNvPr>
          <p:cNvSpPr/>
          <p:nvPr/>
        </p:nvSpPr>
        <p:spPr>
          <a:xfrm>
            <a:off x="457200" y="4864608"/>
            <a:ext cx="8321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Şeyda Aytemür · Tekirdağ Namık Kemal Üniversitesi · Çorlu Mühendislik Fakültesi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7908605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426</TotalTime>
  <Words>1320</Words>
  <Application>Microsoft Office PowerPoint</Application>
  <PresentationFormat>Ekran Gösterisi (16:9)</PresentationFormat>
  <Paragraphs>254</Paragraphs>
  <Slides>16</Slides>
  <Notes>16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Kalp Hastalığı Tahmini - Kolektif Öğrenme</dc:title>
  <dc:subject>PptxGenJS Presentation</dc:subject>
  <dc:creator>Şeyda Aytemür</dc:creator>
  <cp:lastModifiedBy>ŞEYDA AYTEMÜR</cp:lastModifiedBy>
  <cp:revision>15</cp:revision>
  <dcterms:created xsi:type="dcterms:W3CDTF">2026-04-26T16:00:22Z</dcterms:created>
  <dcterms:modified xsi:type="dcterms:W3CDTF">2026-04-27T11:41:17Z</dcterms:modified>
</cp:coreProperties>
</file>